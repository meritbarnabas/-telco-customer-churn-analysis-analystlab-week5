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sldIdLst>
    <p:sldId id="256" r:id="rId2"/>
    <p:sldId id="257" r:id="rId3"/>
    <p:sldId id="258" r:id="rId4"/>
    <p:sldId id="263" r:id="rId5"/>
    <p:sldId id="259" r:id="rId6"/>
    <p:sldId id="260" r:id="rId7"/>
    <p:sldId id="261" r:id="rId8"/>
    <p:sldId id="262"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DFF779-AF1B-4914-9EC4-A53BB2C51BE8}" type="datetimeFigureOut">
              <a:rPr lang="en-GB" smtClean="0"/>
              <a:t>01/07/2026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1903734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DFF779-AF1B-4914-9EC4-A53BB2C51BE8}" type="datetimeFigureOut">
              <a:rPr lang="en-GB" smtClean="0"/>
              <a:t>01/07/2026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36450118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1DFF779-AF1B-4914-9EC4-A53BB2C51BE8}" type="datetimeFigureOut">
              <a:rPr lang="en-GB" smtClean="0"/>
              <a:t>01/07/2026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4153166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2019850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DFF779-AF1B-4914-9EC4-A53BB2C51BE8}" type="datetimeFigureOut">
              <a:rPr lang="en-GB" smtClean="0"/>
              <a:t>01/07/2026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3525690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1DFF779-AF1B-4914-9EC4-A53BB2C51BE8}" type="datetimeFigureOut">
              <a:rPr lang="en-GB" smtClean="0"/>
              <a:t>01/07/2026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31246677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91DFF779-AF1B-4914-9EC4-A53BB2C51BE8}" type="datetimeFigureOut">
              <a:rPr lang="en-GB" smtClean="0"/>
              <a:t>01/07/2026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193582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3494999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764851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10609018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1506883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365801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1DFF779-AF1B-4914-9EC4-A53BB2C51BE8}" type="datetimeFigureOut">
              <a:rPr lang="en-GB" smtClean="0"/>
              <a:t>01/07/2026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20206491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1DFF779-AF1B-4914-9EC4-A53BB2C51BE8}" type="datetimeFigureOut">
              <a:rPr lang="en-GB" smtClean="0"/>
              <a:t>01/07/2026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3213393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1DFF779-AF1B-4914-9EC4-A53BB2C51BE8}" type="datetimeFigureOut">
              <a:rPr lang="en-GB" smtClean="0"/>
              <a:t>01/07/2026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12126266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DFF779-AF1B-4914-9EC4-A53BB2C51BE8}" type="datetimeFigureOut">
              <a:rPr lang="en-GB" smtClean="0"/>
              <a:t>01/07/2026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23178981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DFF779-AF1B-4914-9EC4-A53BB2C51BE8}" type="datetimeFigureOut">
              <a:rPr lang="en-GB" smtClean="0"/>
              <a:t>01/07/2026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810163C-F8FA-4214-B040-0872C1D8035A}" type="slidenum">
              <a:rPr lang="en-GB" smtClean="0"/>
              <a:t>‹#›</a:t>
            </a:fld>
            <a:endParaRPr lang="en-GB"/>
          </a:p>
        </p:txBody>
      </p:sp>
    </p:spTree>
    <p:extLst>
      <p:ext uri="{BB962C8B-B14F-4D97-AF65-F5344CB8AC3E}">
        <p14:creationId xmlns:p14="http://schemas.microsoft.com/office/powerpoint/2010/main" val="25437505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91DFF779-AF1B-4914-9EC4-A53BB2C51BE8}" type="datetimeFigureOut">
              <a:rPr lang="en-GB" smtClean="0"/>
              <a:t>01/07/2026</a:t>
            </a:fld>
            <a:endParaRPr lang="en-GB"/>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4810163C-F8FA-4214-B040-0872C1D8035A}" type="slidenum">
              <a:rPr lang="en-GB" smtClean="0"/>
              <a:t>‹#›</a:t>
            </a:fld>
            <a:endParaRPr lang="en-GB"/>
          </a:p>
        </p:txBody>
      </p:sp>
    </p:spTree>
    <p:extLst>
      <p:ext uri="{BB962C8B-B14F-4D97-AF65-F5344CB8AC3E}">
        <p14:creationId xmlns:p14="http://schemas.microsoft.com/office/powerpoint/2010/main" val="3828229919"/>
      </p:ext>
    </p:extLst>
  </p:cSld>
  <p:clrMap bg1="dk1" tx1="lt1" bg2="dk2" tx2="lt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 id="2147483779"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17384-2DA1-2E9E-C843-F92CC87575A3}"/>
              </a:ext>
            </a:extLst>
          </p:cNvPr>
          <p:cNvSpPr>
            <a:spLocks noGrp="1"/>
          </p:cNvSpPr>
          <p:nvPr>
            <p:ph type="ctrTitle"/>
          </p:nvPr>
        </p:nvSpPr>
        <p:spPr/>
        <p:txBody>
          <a:bodyPr/>
          <a:lstStyle/>
          <a:p>
            <a:r>
              <a:rPr lang="en-GB" dirty="0">
                <a:solidFill>
                  <a:schemeClr val="bg1"/>
                </a:solidFill>
              </a:rPr>
              <a:t>Telco Customer Churn Analysis</a:t>
            </a:r>
          </a:p>
        </p:txBody>
      </p:sp>
      <p:sp>
        <p:nvSpPr>
          <p:cNvPr id="3" name="Subtitle 2">
            <a:extLst>
              <a:ext uri="{FF2B5EF4-FFF2-40B4-BE49-F238E27FC236}">
                <a16:creationId xmlns:a16="http://schemas.microsoft.com/office/drawing/2014/main" id="{F8797529-35DE-C613-C0C4-1A8413815FCB}"/>
              </a:ext>
            </a:extLst>
          </p:cNvPr>
          <p:cNvSpPr>
            <a:spLocks noGrp="1"/>
          </p:cNvSpPr>
          <p:nvPr>
            <p:ph type="subTitle" idx="1"/>
          </p:nvPr>
        </p:nvSpPr>
        <p:spPr/>
        <p:txBody>
          <a:bodyPr/>
          <a:lstStyle/>
          <a:p>
            <a:r>
              <a:rPr lang="en-GB" b="1" dirty="0">
                <a:solidFill>
                  <a:schemeClr val="bg1"/>
                </a:solidFill>
              </a:rPr>
              <a:t>Business Analytics Case Study</a:t>
            </a:r>
          </a:p>
          <a:p>
            <a:r>
              <a:rPr lang="en-GB" b="1" dirty="0">
                <a:solidFill>
                  <a:schemeClr val="bg1"/>
                </a:solidFill>
              </a:rPr>
              <a:t>                                                        PRESENTED BY MERIT BARNABAS</a:t>
            </a:r>
          </a:p>
        </p:txBody>
      </p:sp>
    </p:spTree>
    <p:extLst>
      <p:ext uri="{BB962C8B-B14F-4D97-AF65-F5344CB8AC3E}">
        <p14:creationId xmlns:p14="http://schemas.microsoft.com/office/powerpoint/2010/main" val="27446111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EA80F76-351A-A335-990C-556AE0C3A60A}"/>
              </a:ext>
            </a:extLst>
          </p:cNvPr>
          <p:cNvSpPr txBox="1"/>
          <p:nvPr/>
        </p:nvSpPr>
        <p:spPr>
          <a:xfrm>
            <a:off x="209862" y="0"/>
            <a:ext cx="10852879" cy="5724644"/>
          </a:xfrm>
          <a:prstGeom prst="rect">
            <a:avLst/>
          </a:prstGeom>
          <a:noFill/>
        </p:spPr>
        <p:txBody>
          <a:bodyPr wrap="square" rtlCol="0">
            <a:spAutoFit/>
          </a:bodyPr>
          <a:lstStyle/>
          <a:p>
            <a:pPr algn="ctr"/>
            <a:r>
              <a:rPr lang="en-GB" sz="2800" b="1" dirty="0">
                <a:solidFill>
                  <a:schemeClr val="bg1"/>
                </a:solidFill>
              </a:rPr>
              <a:t>Business Problem</a:t>
            </a:r>
            <a:endParaRPr lang="en-GB" sz="2800" dirty="0">
              <a:solidFill>
                <a:schemeClr val="bg1"/>
              </a:solidFill>
            </a:endParaRPr>
          </a:p>
          <a:p>
            <a:r>
              <a:rPr lang="en-GB" sz="3200" dirty="0">
                <a:solidFill>
                  <a:schemeClr val="bg1"/>
                </a:solidFill>
              </a:rPr>
              <a:t>Customer churn is one of the biggest challenges facing telecom companies. Acquiring a new customer costs significantly more than retaining an existing one. Understanding why customers leave enables the company to design targeted retention strategies and increase revenue.</a:t>
            </a:r>
          </a:p>
          <a:p>
            <a:pPr algn="ctr"/>
            <a:r>
              <a:rPr lang="en-GB" sz="3200" b="1" dirty="0">
                <a:solidFill>
                  <a:schemeClr val="bg1"/>
                </a:solidFill>
              </a:rPr>
              <a:t>Business Questions</a:t>
            </a:r>
          </a:p>
          <a:p>
            <a:r>
              <a:rPr lang="en-GB" sz="3200" dirty="0">
                <a:solidFill>
                  <a:schemeClr val="bg1"/>
                </a:solidFill>
              </a:rPr>
              <a:t>Why are customers leaving? </a:t>
            </a:r>
          </a:p>
          <a:p>
            <a:r>
              <a:rPr lang="en-GB" sz="3200" dirty="0">
                <a:solidFill>
                  <a:schemeClr val="bg1"/>
                </a:solidFill>
              </a:rPr>
              <a:t>Which customers are most likely to churn? </a:t>
            </a:r>
          </a:p>
          <a:p>
            <a:r>
              <a:rPr lang="en-GB" sz="3200" dirty="0">
                <a:solidFill>
                  <a:schemeClr val="bg1"/>
                </a:solidFill>
              </a:rPr>
              <a:t>What factors drive churn? </a:t>
            </a:r>
          </a:p>
          <a:p>
            <a:r>
              <a:rPr lang="en-GB" sz="3200" dirty="0">
                <a:solidFill>
                  <a:schemeClr val="bg1"/>
                </a:solidFill>
              </a:rPr>
              <a:t>What actions can reduce churn?</a:t>
            </a:r>
          </a:p>
          <a:p>
            <a:endParaRPr lang="en-GB" dirty="0"/>
          </a:p>
        </p:txBody>
      </p:sp>
    </p:spTree>
    <p:extLst>
      <p:ext uri="{BB962C8B-B14F-4D97-AF65-F5344CB8AC3E}">
        <p14:creationId xmlns:p14="http://schemas.microsoft.com/office/powerpoint/2010/main" val="2321569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2">
            <a:extLst>
              <a:ext uri="{FF2B5EF4-FFF2-40B4-BE49-F238E27FC236}">
                <a16:creationId xmlns:a16="http://schemas.microsoft.com/office/drawing/2014/main" id="{E77D5960-B3B3-4AE1-8BBD-3C55D906A61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7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9FB9CC80-2FAF-48FC-8450-4A57460F94B2}"/>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22" name="Rectangle 21">
            <a:extLst>
              <a:ext uri="{FF2B5EF4-FFF2-40B4-BE49-F238E27FC236}">
                <a16:creationId xmlns:a16="http://schemas.microsoft.com/office/drawing/2014/main" id="{9416C2F8-A84C-4357-A755-81D3F466DD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
            <a:extLst>
              <a:ext uri="{FF2B5EF4-FFF2-40B4-BE49-F238E27FC236}">
                <a16:creationId xmlns:a16="http://schemas.microsoft.com/office/drawing/2014/main" id="{031306E5-EFE3-459A-89EF-0EF2185CDEF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1D8E6A1-B0BB-4C11-3650-5E239C502532}"/>
              </a:ext>
            </a:extLst>
          </p:cNvPr>
          <p:cNvSpPr txBox="1"/>
          <p:nvPr/>
        </p:nvSpPr>
        <p:spPr>
          <a:xfrm>
            <a:off x="230470" y="269821"/>
            <a:ext cx="11047754" cy="2233535"/>
          </a:xfrm>
          <a:prstGeom prst="rect">
            <a:avLst/>
          </a:prstGeom>
        </p:spPr>
        <p:txBody>
          <a:bodyPr vert="horz" lIns="91440" tIns="45720" rIns="91440" bIns="45720" rtlCol="0">
            <a:normAutofit fontScale="92500" lnSpcReduction="20000"/>
          </a:bodyPr>
          <a:lstStyle/>
          <a:p>
            <a:pPr algn="ctr" defTabSz="914400">
              <a:lnSpc>
                <a:spcPct val="110000"/>
              </a:lnSpc>
              <a:spcAft>
                <a:spcPts val="600"/>
              </a:spcAft>
              <a:buClr>
                <a:schemeClr val="tx1"/>
              </a:buClr>
            </a:pPr>
            <a:r>
              <a:rPr lang="en-US" sz="2600" b="1" cap="all" dirty="0">
                <a:solidFill>
                  <a:schemeClr val="bg1"/>
                </a:solidFill>
              </a:rPr>
              <a:t>Dataset Overview</a:t>
            </a:r>
          </a:p>
          <a:p>
            <a:pPr algn="ctr" defTabSz="914400">
              <a:lnSpc>
                <a:spcPct val="110000"/>
              </a:lnSpc>
              <a:spcAft>
                <a:spcPts val="600"/>
              </a:spcAft>
              <a:buClr>
                <a:schemeClr val="tx1"/>
              </a:buClr>
            </a:pPr>
            <a:r>
              <a:rPr lang="en-US" sz="2200" cap="all" dirty="0">
                <a:solidFill>
                  <a:schemeClr val="bg1"/>
                </a:solidFill>
              </a:rPr>
              <a:t>The Telco Customer Churn dataset contains information about telecom customers, including their demographics, services, contract details, billing information, and churn status. The analysis aims to identify the factors that influence customer churn and provide insights to improve customer retention.</a:t>
            </a:r>
          </a:p>
          <a:p>
            <a:pPr algn="ctr" defTabSz="914400">
              <a:lnSpc>
                <a:spcPct val="110000"/>
              </a:lnSpc>
              <a:spcAft>
                <a:spcPts val="600"/>
              </a:spcAft>
              <a:buClr>
                <a:schemeClr val="tx1"/>
              </a:buClr>
            </a:pPr>
            <a:r>
              <a:rPr lang="en-GB" sz="3500" b="1" dirty="0">
                <a:solidFill>
                  <a:schemeClr val="bg1"/>
                </a:solidFill>
              </a:rPr>
              <a:t>Dataset Summary</a:t>
            </a:r>
            <a:endParaRPr lang="en-US" sz="3500" b="1" cap="all" dirty="0">
              <a:solidFill>
                <a:schemeClr val="bg1"/>
              </a:solidFill>
            </a:endParaRPr>
          </a:p>
          <a:p>
            <a:pPr algn="ctr" defTabSz="914400">
              <a:lnSpc>
                <a:spcPct val="110000"/>
              </a:lnSpc>
              <a:spcAft>
                <a:spcPts val="600"/>
              </a:spcAft>
              <a:buClr>
                <a:schemeClr val="tx1"/>
              </a:buClr>
            </a:pPr>
            <a:endParaRPr lang="en-US" sz="1200" cap="all" dirty="0"/>
          </a:p>
        </p:txBody>
      </p:sp>
      <p:pic>
        <p:nvPicPr>
          <p:cNvPr id="24" name="Picture 23">
            <a:extLst>
              <a:ext uri="{FF2B5EF4-FFF2-40B4-BE49-F238E27FC236}">
                <a16:creationId xmlns:a16="http://schemas.microsoft.com/office/drawing/2014/main" id="{4A23C976-ECF8-49F1-914B-B5BD60613BB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aphicFrame>
        <p:nvGraphicFramePr>
          <p:cNvPr id="3" name="Table 2">
            <a:extLst>
              <a:ext uri="{FF2B5EF4-FFF2-40B4-BE49-F238E27FC236}">
                <a16:creationId xmlns:a16="http://schemas.microsoft.com/office/drawing/2014/main" id="{C110E28B-174A-CD5E-8133-A6EDB41B87FB}"/>
              </a:ext>
            </a:extLst>
          </p:cNvPr>
          <p:cNvGraphicFramePr>
            <a:graphicFrameLocks noGrp="1"/>
          </p:cNvGraphicFramePr>
          <p:nvPr>
            <p:extLst>
              <p:ext uri="{D42A27DB-BD31-4B8C-83A1-F6EECF244321}">
                <p14:modId xmlns:p14="http://schemas.microsoft.com/office/powerpoint/2010/main" val="2671172145"/>
              </p:ext>
            </p:extLst>
          </p:nvPr>
        </p:nvGraphicFramePr>
        <p:xfrm>
          <a:off x="5261548" y="2833141"/>
          <a:ext cx="6016676" cy="3231243"/>
        </p:xfrm>
        <a:graphic>
          <a:graphicData uri="http://schemas.openxmlformats.org/drawingml/2006/table">
            <a:tbl>
              <a:tblPr firstRow="1" bandRow="1">
                <a:tableStyleId>{69012ECD-51FC-41F1-AA8D-1B2483CD663E}</a:tableStyleId>
              </a:tblPr>
              <a:tblGrid>
                <a:gridCol w="3632785">
                  <a:extLst>
                    <a:ext uri="{9D8B030D-6E8A-4147-A177-3AD203B41FA5}">
                      <a16:colId xmlns:a16="http://schemas.microsoft.com/office/drawing/2014/main" val="3408184394"/>
                    </a:ext>
                  </a:extLst>
                </a:gridCol>
                <a:gridCol w="2383891">
                  <a:extLst>
                    <a:ext uri="{9D8B030D-6E8A-4147-A177-3AD203B41FA5}">
                      <a16:colId xmlns:a16="http://schemas.microsoft.com/office/drawing/2014/main" val="253390445"/>
                    </a:ext>
                  </a:extLst>
                </a:gridCol>
              </a:tblGrid>
              <a:tr h="468876">
                <a:tc>
                  <a:txBody>
                    <a:bodyPr/>
                    <a:lstStyle/>
                    <a:p>
                      <a:pPr>
                        <a:buNone/>
                      </a:pPr>
                      <a:r>
                        <a:rPr lang="en-GB" sz="2400" b="1" dirty="0"/>
                        <a:t>Metric</a:t>
                      </a:r>
                      <a:endParaRPr lang="en-GB" sz="2400" dirty="0"/>
                    </a:p>
                  </a:txBody>
                  <a:tcPr marL="122775" marR="122775" marT="61388" marB="61388" anchor="ctr"/>
                </a:tc>
                <a:tc>
                  <a:txBody>
                    <a:bodyPr/>
                    <a:lstStyle/>
                    <a:p>
                      <a:pPr>
                        <a:buNone/>
                      </a:pPr>
                      <a:r>
                        <a:rPr lang="en-GB" sz="2400" b="1"/>
                        <a:t>Value</a:t>
                      </a:r>
                      <a:endParaRPr lang="en-GB" sz="2400"/>
                    </a:p>
                  </a:txBody>
                  <a:tcPr marL="122775" marR="122775" marT="61388" marB="61388" anchor="ctr"/>
                </a:tc>
                <a:extLst>
                  <a:ext uri="{0D108BD9-81ED-4DB2-BD59-A6C34878D82A}">
                    <a16:rowId xmlns:a16="http://schemas.microsoft.com/office/drawing/2014/main" val="3675789661"/>
                  </a:ext>
                </a:extLst>
              </a:tr>
              <a:tr h="468876">
                <a:tc>
                  <a:txBody>
                    <a:bodyPr/>
                    <a:lstStyle/>
                    <a:p>
                      <a:pPr>
                        <a:buNone/>
                      </a:pPr>
                      <a:r>
                        <a:rPr lang="en-GB" sz="2400">
                          <a:solidFill>
                            <a:schemeClr val="bg1"/>
                          </a:solidFill>
                        </a:rPr>
                        <a:t>Total Customers</a:t>
                      </a:r>
                    </a:p>
                  </a:txBody>
                  <a:tcPr marL="122775" marR="122775" marT="61388" marB="61388" anchor="ctr"/>
                </a:tc>
                <a:tc>
                  <a:txBody>
                    <a:bodyPr/>
                    <a:lstStyle/>
                    <a:p>
                      <a:pPr>
                        <a:buNone/>
                      </a:pPr>
                      <a:r>
                        <a:rPr lang="en-GB" sz="2400" b="1">
                          <a:solidFill>
                            <a:schemeClr val="bg1"/>
                          </a:solidFill>
                        </a:rPr>
                        <a:t>7,043</a:t>
                      </a:r>
                      <a:endParaRPr lang="en-GB" sz="2400">
                        <a:solidFill>
                          <a:schemeClr val="bg1"/>
                        </a:solidFill>
                      </a:endParaRPr>
                    </a:p>
                  </a:txBody>
                  <a:tcPr marL="122775" marR="122775" marT="61388" marB="61388" anchor="ctr"/>
                </a:tc>
                <a:extLst>
                  <a:ext uri="{0D108BD9-81ED-4DB2-BD59-A6C34878D82A}">
                    <a16:rowId xmlns:a16="http://schemas.microsoft.com/office/drawing/2014/main" val="81065467"/>
                  </a:ext>
                </a:extLst>
              </a:tr>
              <a:tr h="468876">
                <a:tc>
                  <a:txBody>
                    <a:bodyPr/>
                    <a:lstStyle/>
                    <a:p>
                      <a:pPr>
                        <a:buNone/>
                      </a:pPr>
                      <a:r>
                        <a:rPr lang="en-GB" sz="2400">
                          <a:solidFill>
                            <a:schemeClr val="bg1"/>
                          </a:solidFill>
                        </a:rPr>
                        <a:t>Churned Customers</a:t>
                      </a:r>
                    </a:p>
                  </a:txBody>
                  <a:tcPr marL="122775" marR="122775" marT="61388" marB="61388" anchor="ctr"/>
                </a:tc>
                <a:tc>
                  <a:txBody>
                    <a:bodyPr/>
                    <a:lstStyle/>
                    <a:p>
                      <a:pPr>
                        <a:buNone/>
                      </a:pPr>
                      <a:r>
                        <a:rPr lang="en-GB" sz="2400" b="1">
                          <a:solidFill>
                            <a:schemeClr val="bg1"/>
                          </a:solidFill>
                        </a:rPr>
                        <a:t>1,869</a:t>
                      </a:r>
                      <a:endParaRPr lang="en-GB" sz="2400">
                        <a:solidFill>
                          <a:schemeClr val="bg1"/>
                        </a:solidFill>
                      </a:endParaRPr>
                    </a:p>
                  </a:txBody>
                  <a:tcPr marL="122775" marR="122775" marT="61388" marB="61388" anchor="ctr"/>
                </a:tc>
                <a:extLst>
                  <a:ext uri="{0D108BD9-81ED-4DB2-BD59-A6C34878D82A}">
                    <a16:rowId xmlns:a16="http://schemas.microsoft.com/office/drawing/2014/main" val="2824426437"/>
                  </a:ext>
                </a:extLst>
              </a:tr>
              <a:tr h="468876">
                <a:tc>
                  <a:txBody>
                    <a:bodyPr/>
                    <a:lstStyle/>
                    <a:p>
                      <a:pPr>
                        <a:buNone/>
                      </a:pPr>
                      <a:r>
                        <a:rPr lang="en-GB" sz="2400">
                          <a:solidFill>
                            <a:schemeClr val="bg1"/>
                          </a:solidFill>
                        </a:rPr>
                        <a:t>Churn Rate</a:t>
                      </a:r>
                    </a:p>
                  </a:txBody>
                  <a:tcPr marL="122775" marR="122775" marT="61388" marB="61388" anchor="ctr"/>
                </a:tc>
                <a:tc>
                  <a:txBody>
                    <a:bodyPr/>
                    <a:lstStyle/>
                    <a:p>
                      <a:pPr>
                        <a:buNone/>
                      </a:pPr>
                      <a:r>
                        <a:rPr lang="en-GB" sz="2400" b="1">
                          <a:solidFill>
                            <a:schemeClr val="bg1"/>
                          </a:solidFill>
                        </a:rPr>
                        <a:t>26.54%</a:t>
                      </a:r>
                      <a:endParaRPr lang="en-GB" sz="2400">
                        <a:solidFill>
                          <a:schemeClr val="bg1"/>
                        </a:solidFill>
                      </a:endParaRPr>
                    </a:p>
                  </a:txBody>
                  <a:tcPr marL="122775" marR="122775" marT="61388" marB="61388" anchor="ctr"/>
                </a:tc>
                <a:extLst>
                  <a:ext uri="{0D108BD9-81ED-4DB2-BD59-A6C34878D82A}">
                    <a16:rowId xmlns:a16="http://schemas.microsoft.com/office/drawing/2014/main" val="799958417"/>
                  </a:ext>
                </a:extLst>
              </a:tr>
              <a:tr h="468876">
                <a:tc>
                  <a:txBody>
                    <a:bodyPr/>
                    <a:lstStyle/>
                    <a:p>
                      <a:pPr>
                        <a:buNone/>
                      </a:pPr>
                      <a:r>
                        <a:rPr lang="en-GB" sz="2400">
                          <a:solidFill>
                            <a:schemeClr val="bg1"/>
                          </a:solidFill>
                        </a:rPr>
                        <a:t>Average Monthly Charge</a:t>
                      </a:r>
                    </a:p>
                  </a:txBody>
                  <a:tcPr marL="122775" marR="122775" marT="61388" marB="61388" anchor="ctr"/>
                </a:tc>
                <a:tc>
                  <a:txBody>
                    <a:bodyPr/>
                    <a:lstStyle/>
                    <a:p>
                      <a:pPr>
                        <a:buNone/>
                      </a:pPr>
                      <a:r>
                        <a:rPr lang="en-GB" sz="2400" b="1">
                          <a:solidFill>
                            <a:schemeClr val="bg1"/>
                          </a:solidFill>
                        </a:rPr>
                        <a:t>64.76</a:t>
                      </a:r>
                      <a:endParaRPr lang="en-GB" sz="2400">
                        <a:solidFill>
                          <a:schemeClr val="bg1"/>
                        </a:solidFill>
                      </a:endParaRPr>
                    </a:p>
                  </a:txBody>
                  <a:tcPr marL="122775" marR="122775" marT="61388" marB="61388" anchor="ctr"/>
                </a:tc>
                <a:extLst>
                  <a:ext uri="{0D108BD9-81ED-4DB2-BD59-A6C34878D82A}">
                    <a16:rowId xmlns:a16="http://schemas.microsoft.com/office/drawing/2014/main" val="2718285128"/>
                  </a:ext>
                </a:extLst>
              </a:tr>
              <a:tr h="788563">
                <a:tc>
                  <a:txBody>
                    <a:bodyPr/>
                    <a:lstStyle/>
                    <a:p>
                      <a:pPr>
                        <a:buNone/>
                      </a:pPr>
                      <a:r>
                        <a:rPr lang="en-GB" sz="2400" dirty="0">
                          <a:solidFill>
                            <a:schemeClr val="bg1"/>
                          </a:solidFill>
                        </a:rPr>
                        <a:t>Average Customer Tenure</a:t>
                      </a:r>
                    </a:p>
                  </a:txBody>
                  <a:tcPr marL="122775" marR="122775" marT="61388" marB="61388" anchor="ctr"/>
                </a:tc>
                <a:tc>
                  <a:txBody>
                    <a:bodyPr/>
                    <a:lstStyle/>
                    <a:p>
                      <a:pPr>
                        <a:buNone/>
                      </a:pPr>
                      <a:r>
                        <a:rPr lang="en-GB" sz="2400" b="1" dirty="0">
                          <a:solidFill>
                            <a:schemeClr val="bg1"/>
                          </a:solidFill>
                        </a:rPr>
                        <a:t>32.37 months</a:t>
                      </a:r>
                      <a:endParaRPr lang="en-GB" sz="2400" dirty="0">
                        <a:solidFill>
                          <a:schemeClr val="bg1"/>
                        </a:solidFill>
                      </a:endParaRPr>
                    </a:p>
                  </a:txBody>
                  <a:tcPr marL="122775" marR="122775" marT="61388" marB="61388" anchor="ctr"/>
                </a:tc>
                <a:extLst>
                  <a:ext uri="{0D108BD9-81ED-4DB2-BD59-A6C34878D82A}">
                    <a16:rowId xmlns:a16="http://schemas.microsoft.com/office/drawing/2014/main" val="3831505875"/>
                  </a:ext>
                </a:extLst>
              </a:tr>
            </a:tbl>
          </a:graphicData>
        </a:graphic>
      </p:graphicFrame>
    </p:spTree>
    <p:extLst>
      <p:ext uri="{BB962C8B-B14F-4D97-AF65-F5344CB8AC3E}">
        <p14:creationId xmlns:p14="http://schemas.microsoft.com/office/powerpoint/2010/main" val="659008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031D7A-FB73-3B95-85BB-FC7232316DBA}"/>
              </a:ext>
            </a:extLst>
          </p:cNvPr>
          <p:cNvSpPr txBox="1"/>
          <p:nvPr/>
        </p:nvSpPr>
        <p:spPr>
          <a:xfrm>
            <a:off x="239843" y="194874"/>
            <a:ext cx="8694295" cy="6524863"/>
          </a:xfrm>
          <a:prstGeom prst="rect">
            <a:avLst/>
          </a:prstGeom>
          <a:noFill/>
        </p:spPr>
        <p:txBody>
          <a:bodyPr wrap="square" rtlCol="0">
            <a:spAutoFit/>
          </a:bodyPr>
          <a:lstStyle/>
          <a:p>
            <a:pPr algn="ctr"/>
            <a:r>
              <a:rPr lang="en-GB" b="1" dirty="0">
                <a:solidFill>
                  <a:schemeClr val="bg1"/>
                </a:solidFill>
              </a:rPr>
              <a:t>Dataset Variables</a:t>
            </a:r>
            <a:endParaRPr lang="en-GB" sz="1400" b="1" dirty="0">
              <a:solidFill>
                <a:schemeClr val="bg1"/>
              </a:solidFill>
            </a:endParaRPr>
          </a:p>
          <a:p>
            <a:r>
              <a:rPr lang="en-GB" sz="1400" b="1" dirty="0">
                <a:solidFill>
                  <a:schemeClr val="bg1"/>
                </a:solidFill>
              </a:rPr>
              <a:t>The dataset consists of the following categories:</a:t>
            </a:r>
          </a:p>
          <a:p>
            <a:r>
              <a:rPr lang="en-GB" sz="1600" b="1" u="sng" dirty="0">
                <a:solidFill>
                  <a:schemeClr val="bg1"/>
                </a:solidFill>
              </a:rPr>
              <a:t>Customer Demographics</a:t>
            </a:r>
          </a:p>
          <a:p>
            <a:pPr marL="285750" indent="-285750">
              <a:buFont typeface="Arial" panose="020B0604020202020204" pitchFamily="34" charset="0"/>
              <a:buChar char="•"/>
            </a:pPr>
            <a:r>
              <a:rPr lang="en-GB" sz="1400" b="1" dirty="0">
                <a:solidFill>
                  <a:schemeClr val="bg1"/>
                </a:solidFill>
              </a:rPr>
              <a:t>Gender </a:t>
            </a:r>
          </a:p>
          <a:p>
            <a:pPr marL="285750" indent="-285750">
              <a:buFont typeface="Arial" panose="020B0604020202020204" pitchFamily="34" charset="0"/>
              <a:buChar char="•"/>
            </a:pPr>
            <a:r>
              <a:rPr lang="en-GB" sz="1400" b="1" dirty="0">
                <a:solidFill>
                  <a:schemeClr val="bg1"/>
                </a:solidFill>
              </a:rPr>
              <a:t>Senior Citizen </a:t>
            </a:r>
          </a:p>
          <a:p>
            <a:pPr marL="285750" indent="-285750">
              <a:buFont typeface="Arial" panose="020B0604020202020204" pitchFamily="34" charset="0"/>
              <a:buChar char="•"/>
            </a:pPr>
            <a:r>
              <a:rPr lang="en-GB" sz="1400" b="1" dirty="0">
                <a:solidFill>
                  <a:schemeClr val="bg1"/>
                </a:solidFill>
              </a:rPr>
              <a:t>Partner </a:t>
            </a:r>
          </a:p>
          <a:p>
            <a:pPr marL="285750" indent="-285750">
              <a:buFont typeface="Arial" panose="020B0604020202020204" pitchFamily="34" charset="0"/>
              <a:buChar char="•"/>
            </a:pPr>
            <a:r>
              <a:rPr lang="en-GB" sz="1400" b="1" dirty="0">
                <a:solidFill>
                  <a:schemeClr val="bg1"/>
                </a:solidFill>
              </a:rPr>
              <a:t>Dependents </a:t>
            </a:r>
          </a:p>
          <a:p>
            <a:r>
              <a:rPr lang="en-GB" sz="1400" b="1" u="sng" dirty="0">
                <a:solidFill>
                  <a:schemeClr val="bg1"/>
                </a:solidFill>
              </a:rPr>
              <a:t>Services Used</a:t>
            </a:r>
          </a:p>
          <a:p>
            <a:pPr marL="285750" indent="-285750">
              <a:buFont typeface="Arial" panose="020B0604020202020204" pitchFamily="34" charset="0"/>
              <a:buChar char="•"/>
            </a:pPr>
            <a:r>
              <a:rPr lang="en-GB" sz="1400" b="1" dirty="0">
                <a:solidFill>
                  <a:schemeClr val="bg1"/>
                </a:solidFill>
              </a:rPr>
              <a:t>Phone Service </a:t>
            </a:r>
          </a:p>
          <a:p>
            <a:pPr marL="285750" indent="-285750">
              <a:buFont typeface="Arial" panose="020B0604020202020204" pitchFamily="34" charset="0"/>
              <a:buChar char="•"/>
            </a:pPr>
            <a:r>
              <a:rPr lang="en-GB" sz="1400" b="1" dirty="0">
                <a:solidFill>
                  <a:schemeClr val="bg1"/>
                </a:solidFill>
              </a:rPr>
              <a:t>Multiple Lines </a:t>
            </a:r>
          </a:p>
          <a:p>
            <a:pPr marL="285750" indent="-285750">
              <a:buFont typeface="Arial" panose="020B0604020202020204" pitchFamily="34" charset="0"/>
              <a:buChar char="•"/>
            </a:pPr>
            <a:r>
              <a:rPr lang="en-GB" sz="1400" b="1" dirty="0">
                <a:solidFill>
                  <a:schemeClr val="bg1"/>
                </a:solidFill>
              </a:rPr>
              <a:t>Internet Service </a:t>
            </a:r>
          </a:p>
          <a:p>
            <a:pPr marL="285750" indent="-285750">
              <a:buFont typeface="Arial" panose="020B0604020202020204" pitchFamily="34" charset="0"/>
              <a:buChar char="•"/>
            </a:pPr>
            <a:r>
              <a:rPr lang="en-GB" sz="1400" b="1" dirty="0">
                <a:solidFill>
                  <a:schemeClr val="bg1"/>
                </a:solidFill>
              </a:rPr>
              <a:t>Online Security </a:t>
            </a:r>
          </a:p>
          <a:p>
            <a:pPr marL="285750" indent="-285750">
              <a:buFont typeface="Arial" panose="020B0604020202020204" pitchFamily="34" charset="0"/>
              <a:buChar char="•"/>
            </a:pPr>
            <a:r>
              <a:rPr lang="en-GB" sz="1400" b="1" dirty="0">
                <a:solidFill>
                  <a:schemeClr val="bg1"/>
                </a:solidFill>
              </a:rPr>
              <a:t>Online Backup </a:t>
            </a:r>
          </a:p>
          <a:p>
            <a:pPr marL="285750" indent="-285750">
              <a:buFont typeface="Arial" panose="020B0604020202020204" pitchFamily="34" charset="0"/>
              <a:buChar char="•"/>
            </a:pPr>
            <a:r>
              <a:rPr lang="en-GB" sz="1400" b="1" dirty="0">
                <a:solidFill>
                  <a:schemeClr val="bg1"/>
                </a:solidFill>
              </a:rPr>
              <a:t>Device Protection </a:t>
            </a:r>
          </a:p>
          <a:p>
            <a:pPr marL="285750" indent="-285750">
              <a:buFont typeface="Arial" panose="020B0604020202020204" pitchFamily="34" charset="0"/>
              <a:buChar char="•"/>
            </a:pPr>
            <a:r>
              <a:rPr lang="en-GB" sz="1400" b="1" dirty="0">
                <a:solidFill>
                  <a:schemeClr val="bg1"/>
                </a:solidFill>
              </a:rPr>
              <a:t>Tech Support</a:t>
            </a:r>
          </a:p>
          <a:p>
            <a:pPr marL="285750" indent="-285750">
              <a:buFont typeface="Arial" panose="020B0604020202020204" pitchFamily="34" charset="0"/>
              <a:buChar char="•"/>
            </a:pPr>
            <a:r>
              <a:rPr lang="en-GB" sz="1400" b="1" dirty="0">
                <a:solidFill>
                  <a:schemeClr val="bg1"/>
                </a:solidFill>
              </a:rPr>
              <a:t>Streaming TV </a:t>
            </a:r>
          </a:p>
          <a:p>
            <a:pPr marL="285750" indent="-285750">
              <a:buFont typeface="Arial" panose="020B0604020202020204" pitchFamily="34" charset="0"/>
              <a:buChar char="•"/>
            </a:pPr>
            <a:r>
              <a:rPr lang="en-GB" sz="1400" b="1" dirty="0">
                <a:solidFill>
                  <a:schemeClr val="bg1"/>
                </a:solidFill>
              </a:rPr>
              <a:t>Streaming Movies </a:t>
            </a:r>
          </a:p>
          <a:p>
            <a:r>
              <a:rPr lang="en-GB" sz="1400" b="1" u="sng" dirty="0">
                <a:solidFill>
                  <a:schemeClr val="bg1"/>
                </a:solidFill>
              </a:rPr>
              <a:t>Account Information</a:t>
            </a:r>
          </a:p>
          <a:p>
            <a:pPr marL="285750" indent="-285750">
              <a:buFont typeface="Arial" panose="020B0604020202020204" pitchFamily="34" charset="0"/>
              <a:buChar char="•"/>
            </a:pPr>
            <a:r>
              <a:rPr lang="en-GB" sz="1400" b="1" dirty="0">
                <a:solidFill>
                  <a:schemeClr val="bg1"/>
                </a:solidFill>
              </a:rPr>
              <a:t>Tenure </a:t>
            </a:r>
          </a:p>
          <a:p>
            <a:pPr marL="285750" indent="-285750">
              <a:buFont typeface="Arial" panose="020B0604020202020204" pitchFamily="34" charset="0"/>
              <a:buChar char="•"/>
            </a:pPr>
            <a:r>
              <a:rPr lang="en-GB" sz="1400" b="1" dirty="0">
                <a:solidFill>
                  <a:schemeClr val="bg1"/>
                </a:solidFill>
              </a:rPr>
              <a:t>Contract Type </a:t>
            </a:r>
          </a:p>
          <a:p>
            <a:pPr marL="285750" indent="-285750">
              <a:buFont typeface="Arial" panose="020B0604020202020204" pitchFamily="34" charset="0"/>
              <a:buChar char="•"/>
            </a:pPr>
            <a:r>
              <a:rPr lang="en-GB" sz="1400" b="1" dirty="0">
                <a:solidFill>
                  <a:schemeClr val="bg1"/>
                </a:solidFill>
              </a:rPr>
              <a:t>Paperless Billing </a:t>
            </a:r>
          </a:p>
          <a:p>
            <a:pPr marL="285750" indent="-285750">
              <a:buFont typeface="Arial" panose="020B0604020202020204" pitchFamily="34" charset="0"/>
              <a:buChar char="•"/>
            </a:pPr>
            <a:r>
              <a:rPr lang="en-GB" sz="1400" b="1" dirty="0">
                <a:solidFill>
                  <a:schemeClr val="bg1"/>
                </a:solidFill>
              </a:rPr>
              <a:t>Payment Method </a:t>
            </a:r>
          </a:p>
          <a:p>
            <a:r>
              <a:rPr lang="en-GB" sz="1400" b="1" u="sng" dirty="0">
                <a:solidFill>
                  <a:schemeClr val="bg1"/>
                </a:solidFill>
              </a:rPr>
              <a:t>Billing Information</a:t>
            </a:r>
          </a:p>
          <a:p>
            <a:pPr marL="285750" indent="-285750">
              <a:buFont typeface="Arial" panose="020B0604020202020204" pitchFamily="34" charset="0"/>
              <a:buChar char="•"/>
            </a:pPr>
            <a:r>
              <a:rPr lang="en-GB" sz="1400" b="1" dirty="0">
                <a:solidFill>
                  <a:schemeClr val="bg1"/>
                </a:solidFill>
              </a:rPr>
              <a:t>Monthly Charges </a:t>
            </a:r>
          </a:p>
          <a:p>
            <a:pPr marL="285750" indent="-285750">
              <a:buFont typeface="Arial" panose="020B0604020202020204" pitchFamily="34" charset="0"/>
              <a:buChar char="•"/>
            </a:pPr>
            <a:r>
              <a:rPr lang="en-GB" sz="1400" b="1" dirty="0">
                <a:solidFill>
                  <a:schemeClr val="bg1"/>
                </a:solidFill>
              </a:rPr>
              <a:t>Total Charges </a:t>
            </a:r>
          </a:p>
          <a:p>
            <a:r>
              <a:rPr lang="en-GB" sz="1400" b="1" u="sng" dirty="0">
                <a:solidFill>
                  <a:schemeClr val="bg1"/>
                </a:solidFill>
              </a:rPr>
              <a:t>Target Variable</a:t>
            </a:r>
          </a:p>
          <a:p>
            <a:r>
              <a:rPr lang="en-GB" sz="1400" b="1" dirty="0">
                <a:solidFill>
                  <a:schemeClr val="bg1"/>
                </a:solidFill>
              </a:rPr>
              <a:t>Churn (Yes or No) </a:t>
            </a:r>
          </a:p>
          <a:p>
            <a:r>
              <a:rPr lang="en-GB" sz="1400" b="1" dirty="0">
                <a:solidFill>
                  <a:schemeClr val="bg1"/>
                </a:solidFill>
              </a:rPr>
              <a:t>The Churn variable is the target variable because it indicates whether a customer stayed with the company or left</a:t>
            </a:r>
            <a:r>
              <a:rPr lang="en-GB" b="1" dirty="0">
                <a:solidFill>
                  <a:schemeClr val="bg1"/>
                </a:solidFill>
              </a:rPr>
              <a:t>.</a:t>
            </a:r>
          </a:p>
          <a:p>
            <a:endParaRPr lang="en-GB" sz="1600" dirty="0"/>
          </a:p>
        </p:txBody>
      </p:sp>
      <p:sp>
        <p:nvSpPr>
          <p:cNvPr id="3" name="TextBox 2">
            <a:extLst>
              <a:ext uri="{FF2B5EF4-FFF2-40B4-BE49-F238E27FC236}">
                <a16:creationId xmlns:a16="http://schemas.microsoft.com/office/drawing/2014/main" id="{D4AF2347-BA2C-FA68-5ECC-2F5963C897F8}"/>
              </a:ext>
            </a:extLst>
          </p:cNvPr>
          <p:cNvSpPr txBox="1"/>
          <p:nvPr/>
        </p:nvSpPr>
        <p:spPr>
          <a:xfrm>
            <a:off x="8349521" y="929390"/>
            <a:ext cx="3147935" cy="4401205"/>
          </a:xfrm>
          <a:prstGeom prst="rect">
            <a:avLst/>
          </a:prstGeom>
          <a:noFill/>
        </p:spPr>
        <p:txBody>
          <a:bodyPr wrap="square" rtlCol="0">
            <a:spAutoFit/>
          </a:bodyPr>
          <a:lstStyle/>
          <a:p>
            <a:pPr algn="ctr"/>
            <a:r>
              <a:rPr lang="en-US" sz="2800" dirty="0">
                <a:solidFill>
                  <a:schemeClr val="bg1"/>
                </a:solidFill>
              </a:rPr>
              <a:t>DATA PREPARATION</a:t>
            </a:r>
          </a:p>
          <a:p>
            <a:pPr marL="457200" indent="-457200">
              <a:buFont typeface="Arial" panose="020B0604020202020204" pitchFamily="34" charset="0"/>
              <a:buChar char="•"/>
            </a:pPr>
            <a:r>
              <a:rPr lang="en-US" sz="2800" dirty="0">
                <a:solidFill>
                  <a:schemeClr val="bg1"/>
                </a:solidFill>
              </a:rPr>
              <a:t>Checked data quality</a:t>
            </a:r>
          </a:p>
          <a:p>
            <a:pPr marL="457200" indent="-457200">
              <a:buFont typeface="Arial" panose="020B0604020202020204" pitchFamily="34" charset="0"/>
              <a:buChar char="•"/>
            </a:pPr>
            <a:r>
              <a:rPr lang="en-US" sz="2800" dirty="0">
                <a:solidFill>
                  <a:schemeClr val="bg1"/>
                </a:solidFill>
              </a:rPr>
              <a:t>Created tenure groups</a:t>
            </a:r>
          </a:p>
          <a:p>
            <a:pPr marL="457200" indent="-457200">
              <a:buFont typeface="Arial" panose="020B0604020202020204" pitchFamily="34" charset="0"/>
              <a:buChar char="•"/>
            </a:pPr>
            <a:r>
              <a:rPr lang="en-US" sz="2800" dirty="0">
                <a:solidFill>
                  <a:schemeClr val="bg1"/>
                </a:solidFill>
              </a:rPr>
              <a:t>Created monthly charge Groups </a:t>
            </a:r>
          </a:p>
          <a:p>
            <a:pPr marL="457200" indent="-457200">
              <a:buFont typeface="Arial" panose="020B0604020202020204" pitchFamily="34" charset="0"/>
              <a:buChar char="•"/>
            </a:pPr>
            <a:r>
              <a:rPr lang="en-US" sz="2800" dirty="0">
                <a:solidFill>
                  <a:schemeClr val="bg1"/>
                </a:solidFill>
              </a:rPr>
              <a:t>Created correlation heatmap</a:t>
            </a:r>
            <a:endParaRPr lang="en-GB" sz="2800" dirty="0">
              <a:solidFill>
                <a:schemeClr val="bg1"/>
              </a:solidFill>
            </a:endParaRPr>
          </a:p>
        </p:txBody>
      </p:sp>
    </p:spTree>
    <p:extLst>
      <p:ext uri="{BB962C8B-B14F-4D97-AF65-F5344CB8AC3E}">
        <p14:creationId xmlns:p14="http://schemas.microsoft.com/office/powerpoint/2010/main" val="3908693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65AB3A9-3020-7ABF-540B-C95F18F345C3}"/>
              </a:ext>
            </a:extLst>
          </p:cNvPr>
          <p:cNvSpPr txBox="1"/>
          <p:nvPr/>
        </p:nvSpPr>
        <p:spPr>
          <a:xfrm>
            <a:off x="269823" y="104931"/>
            <a:ext cx="11737297" cy="3970318"/>
          </a:xfrm>
          <a:prstGeom prst="rect">
            <a:avLst/>
          </a:prstGeom>
          <a:noFill/>
        </p:spPr>
        <p:txBody>
          <a:bodyPr wrap="square" rtlCol="0">
            <a:spAutoFit/>
          </a:bodyPr>
          <a:lstStyle/>
          <a:p>
            <a:pPr algn="ctr"/>
            <a:r>
              <a:rPr lang="en-GB" sz="2800" b="1" dirty="0">
                <a:solidFill>
                  <a:schemeClr val="bg1"/>
                </a:solidFill>
              </a:rPr>
              <a:t>Customer Churn Overview</a:t>
            </a:r>
          </a:p>
          <a:p>
            <a:r>
              <a:rPr lang="en-GB" sz="2400" b="1" dirty="0">
                <a:solidFill>
                  <a:schemeClr val="bg1"/>
                </a:solidFill>
              </a:rPr>
              <a:t>Key findings </a:t>
            </a:r>
          </a:p>
          <a:p>
            <a:pPr marL="285750" indent="-285750">
              <a:buFont typeface="Arial" panose="020B0604020202020204" pitchFamily="34" charset="0"/>
              <a:buChar char="•"/>
            </a:pPr>
            <a:r>
              <a:rPr lang="en-GB" dirty="0">
                <a:solidFill>
                  <a:schemeClr val="bg1"/>
                </a:solidFill>
              </a:rPr>
              <a:t>Out of </a:t>
            </a:r>
            <a:r>
              <a:rPr lang="en-GB" b="1" dirty="0">
                <a:solidFill>
                  <a:schemeClr val="bg1"/>
                </a:solidFill>
              </a:rPr>
              <a:t>7,043 customers</a:t>
            </a:r>
            <a:r>
              <a:rPr lang="en-GB" dirty="0">
                <a:solidFill>
                  <a:schemeClr val="bg1"/>
                </a:solidFill>
              </a:rPr>
              <a:t>, </a:t>
            </a:r>
            <a:r>
              <a:rPr lang="en-GB" b="1" dirty="0">
                <a:solidFill>
                  <a:schemeClr val="bg1"/>
                </a:solidFill>
              </a:rPr>
              <a:t>1,869</a:t>
            </a:r>
            <a:r>
              <a:rPr lang="en-GB" dirty="0">
                <a:solidFill>
                  <a:schemeClr val="bg1"/>
                </a:solidFill>
              </a:rPr>
              <a:t> left the company. </a:t>
            </a:r>
          </a:p>
          <a:p>
            <a:pPr marL="285750" indent="-285750">
              <a:buFont typeface="Arial" panose="020B0604020202020204" pitchFamily="34" charset="0"/>
              <a:buChar char="•"/>
            </a:pPr>
            <a:r>
              <a:rPr lang="en-GB" dirty="0">
                <a:solidFill>
                  <a:schemeClr val="bg1"/>
                </a:solidFill>
              </a:rPr>
              <a:t>The overall customer churn rate is </a:t>
            </a:r>
            <a:r>
              <a:rPr lang="en-GB" b="1" dirty="0">
                <a:solidFill>
                  <a:schemeClr val="bg1"/>
                </a:solidFill>
              </a:rPr>
              <a:t>26.54%</a:t>
            </a:r>
            <a:r>
              <a:rPr lang="en-GB" dirty="0">
                <a:solidFill>
                  <a:schemeClr val="bg1"/>
                </a:solidFill>
              </a:rPr>
              <a:t>. </a:t>
            </a:r>
          </a:p>
          <a:p>
            <a:pPr marL="285750" indent="-285750">
              <a:buFont typeface="Arial" panose="020B0604020202020204" pitchFamily="34" charset="0"/>
              <a:buChar char="•"/>
            </a:pPr>
            <a:r>
              <a:rPr lang="en-GB" dirty="0">
                <a:solidFill>
                  <a:schemeClr val="bg1"/>
                </a:solidFill>
              </a:rPr>
              <a:t>About </a:t>
            </a:r>
            <a:r>
              <a:rPr lang="en-GB" b="1" dirty="0">
                <a:solidFill>
                  <a:schemeClr val="bg1"/>
                </a:solidFill>
              </a:rPr>
              <a:t>3 out of every 4 customers</a:t>
            </a:r>
            <a:r>
              <a:rPr lang="en-GB" dirty="0">
                <a:solidFill>
                  <a:schemeClr val="bg1"/>
                </a:solidFill>
              </a:rPr>
              <a:t> stayed with the company. </a:t>
            </a:r>
          </a:p>
          <a:p>
            <a:pPr marL="285750" indent="-285750">
              <a:buFont typeface="Arial" panose="020B0604020202020204" pitchFamily="34" charset="0"/>
              <a:buChar char="•"/>
            </a:pPr>
            <a:r>
              <a:rPr lang="en-GB" dirty="0">
                <a:solidFill>
                  <a:schemeClr val="bg1"/>
                </a:solidFill>
              </a:rPr>
              <a:t>Although most customers remain, the churn rate is high enough to affect business growth and revenue. </a:t>
            </a:r>
          </a:p>
          <a:p>
            <a:r>
              <a:rPr lang="en-GB" sz="2000" b="1" dirty="0">
                <a:solidFill>
                  <a:schemeClr val="bg1"/>
                </a:solidFill>
              </a:rPr>
              <a:t>Business Insight</a:t>
            </a:r>
          </a:p>
          <a:p>
            <a:r>
              <a:rPr lang="en-GB" dirty="0">
                <a:solidFill>
                  <a:schemeClr val="bg1"/>
                </a:solidFill>
              </a:rPr>
              <a:t>More than one in four customers have left the company. This indicates a significant customer retention challenge and highlights the need to understand the factors driving churn.</a:t>
            </a:r>
          </a:p>
          <a:p>
            <a:endParaRPr lang="en-GB" dirty="0">
              <a:solidFill>
                <a:schemeClr val="bg1"/>
              </a:solidFill>
            </a:endParaRPr>
          </a:p>
          <a:p>
            <a:r>
              <a:rPr lang="en-GB" dirty="0">
                <a:solidFill>
                  <a:schemeClr val="bg1"/>
                </a:solidFill>
              </a:rPr>
              <a:t>This chart shows the overall churn distribution. Out of 7,043 customers, 1,869 left the company, while 5,174 remained. This represents a churn rate of 26.54%, meaning that more than one out of every four customers has left. This level of churn can reduce revenue and increase customer acquisition costs, making retention an important business priority."</a:t>
            </a:r>
          </a:p>
        </p:txBody>
      </p:sp>
      <p:pic>
        <p:nvPicPr>
          <p:cNvPr id="9" name="Picture 8">
            <a:extLst>
              <a:ext uri="{FF2B5EF4-FFF2-40B4-BE49-F238E27FC236}">
                <a16:creationId xmlns:a16="http://schemas.microsoft.com/office/drawing/2014/main" id="{C63A0B67-61DE-325C-C1D0-71B23072C8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38073" y="4407108"/>
            <a:ext cx="3942412" cy="2173574"/>
          </a:xfrm>
          <a:prstGeom prst="rect">
            <a:avLst/>
          </a:prstGeom>
        </p:spPr>
      </p:pic>
    </p:spTree>
    <p:extLst>
      <p:ext uri="{BB962C8B-B14F-4D97-AF65-F5344CB8AC3E}">
        <p14:creationId xmlns:p14="http://schemas.microsoft.com/office/powerpoint/2010/main" val="2906078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DCBA557-A240-0442-DB2C-C9230D345DC7}"/>
              </a:ext>
            </a:extLst>
          </p:cNvPr>
          <p:cNvSpPr txBox="1"/>
          <p:nvPr/>
        </p:nvSpPr>
        <p:spPr>
          <a:xfrm>
            <a:off x="524656" y="0"/>
            <a:ext cx="9473783" cy="584775"/>
          </a:xfrm>
          <a:prstGeom prst="rect">
            <a:avLst/>
          </a:prstGeom>
          <a:noFill/>
        </p:spPr>
        <p:txBody>
          <a:bodyPr wrap="square" rtlCol="0">
            <a:spAutoFit/>
          </a:bodyPr>
          <a:lstStyle/>
          <a:p>
            <a:pPr algn="ctr"/>
            <a:r>
              <a:rPr lang="en-GB" sz="3200" b="1" dirty="0">
                <a:solidFill>
                  <a:schemeClr val="bg1"/>
                </a:solidFill>
              </a:rPr>
              <a:t>Key Drivers of Customer Churn</a:t>
            </a:r>
          </a:p>
        </p:txBody>
      </p:sp>
      <p:sp>
        <p:nvSpPr>
          <p:cNvPr id="4" name="TextBox 3">
            <a:extLst>
              <a:ext uri="{FF2B5EF4-FFF2-40B4-BE49-F238E27FC236}">
                <a16:creationId xmlns:a16="http://schemas.microsoft.com/office/drawing/2014/main" id="{D8164376-096A-8882-551C-9F0E1509CC36}"/>
              </a:ext>
            </a:extLst>
          </p:cNvPr>
          <p:cNvSpPr txBox="1"/>
          <p:nvPr/>
        </p:nvSpPr>
        <p:spPr>
          <a:xfrm>
            <a:off x="269824" y="584774"/>
            <a:ext cx="8004746" cy="2492990"/>
          </a:xfrm>
          <a:prstGeom prst="rect">
            <a:avLst/>
          </a:prstGeom>
          <a:noFill/>
        </p:spPr>
        <p:txBody>
          <a:bodyPr wrap="square" rtlCol="0">
            <a:spAutoFit/>
          </a:bodyPr>
          <a:lstStyle/>
          <a:p>
            <a:r>
              <a:rPr lang="en-GB" sz="2000" b="1" dirty="0">
                <a:solidFill>
                  <a:schemeClr val="bg1"/>
                </a:solidFill>
              </a:rPr>
              <a:t>Churn by Contract type</a:t>
            </a:r>
          </a:p>
          <a:p>
            <a:r>
              <a:rPr lang="en-GB" b="1" dirty="0">
                <a:solidFill>
                  <a:schemeClr val="bg1"/>
                </a:solidFill>
              </a:rPr>
              <a:t>Key Finding</a:t>
            </a:r>
            <a:endParaRPr lang="en-GB" dirty="0">
              <a:solidFill>
                <a:schemeClr val="bg1"/>
              </a:solidFill>
            </a:endParaRPr>
          </a:p>
          <a:p>
            <a:pPr marL="342900" indent="-342900">
              <a:buFont typeface="Arial" panose="020B0604020202020204" pitchFamily="34" charset="0"/>
              <a:buChar char="•"/>
            </a:pPr>
            <a:r>
              <a:rPr lang="en-GB" sz="2000" dirty="0">
                <a:solidFill>
                  <a:schemeClr val="bg1"/>
                </a:solidFill>
              </a:rPr>
              <a:t>Customers with </a:t>
            </a:r>
            <a:r>
              <a:rPr lang="en-GB" sz="2000" b="1" dirty="0">
                <a:solidFill>
                  <a:schemeClr val="bg1"/>
                </a:solidFill>
              </a:rPr>
              <a:t>month-to-month contracts</a:t>
            </a:r>
            <a:r>
              <a:rPr lang="en-GB" sz="2000" dirty="0">
                <a:solidFill>
                  <a:schemeClr val="bg1"/>
                </a:solidFill>
              </a:rPr>
              <a:t> have the highest churn. </a:t>
            </a:r>
          </a:p>
          <a:p>
            <a:pPr marL="342900" indent="-342900">
              <a:buFont typeface="Arial" panose="020B0604020202020204" pitchFamily="34" charset="0"/>
              <a:buChar char="•"/>
            </a:pPr>
            <a:r>
              <a:rPr lang="en-GB" sz="2000" dirty="0">
                <a:solidFill>
                  <a:schemeClr val="bg1"/>
                </a:solidFill>
              </a:rPr>
              <a:t>Customers with </a:t>
            </a:r>
            <a:r>
              <a:rPr lang="en-GB" sz="2000" b="1" dirty="0">
                <a:solidFill>
                  <a:schemeClr val="bg1"/>
                </a:solidFill>
              </a:rPr>
              <a:t>one-year and two-year contracts</a:t>
            </a:r>
            <a:r>
              <a:rPr lang="en-GB" sz="2000" dirty="0">
                <a:solidFill>
                  <a:schemeClr val="bg1"/>
                </a:solidFill>
              </a:rPr>
              <a:t> are more likely to stay. </a:t>
            </a:r>
          </a:p>
          <a:p>
            <a:r>
              <a:rPr lang="en-GB" sz="2000" b="1" dirty="0">
                <a:solidFill>
                  <a:schemeClr val="bg1"/>
                </a:solidFill>
              </a:rPr>
              <a:t>Business Insight</a:t>
            </a:r>
            <a:br>
              <a:rPr lang="en-GB" sz="2000" dirty="0">
                <a:solidFill>
                  <a:schemeClr val="bg1"/>
                </a:solidFill>
              </a:rPr>
            </a:br>
            <a:r>
              <a:rPr lang="en-GB" sz="2000" dirty="0">
                <a:solidFill>
                  <a:schemeClr val="bg1"/>
                </a:solidFill>
              </a:rPr>
              <a:t>Customers without long-term contracts can easily switch to another telecom provider. Longer contracts encourage customer loyalty and reduce churn.</a:t>
            </a:r>
          </a:p>
          <a:p>
            <a:pPr marL="285750" indent="-285750">
              <a:buFont typeface="Arial" panose="020B0604020202020204" pitchFamily="34" charset="0"/>
              <a:buChar char="•"/>
            </a:pPr>
            <a:endParaRPr lang="en-GB" dirty="0"/>
          </a:p>
        </p:txBody>
      </p:sp>
      <p:sp>
        <p:nvSpPr>
          <p:cNvPr id="5" name="TextBox 4">
            <a:extLst>
              <a:ext uri="{FF2B5EF4-FFF2-40B4-BE49-F238E27FC236}">
                <a16:creationId xmlns:a16="http://schemas.microsoft.com/office/drawing/2014/main" id="{702996D2-20D3-EB23-71C9-5836286A7C5D}"/>
              </a:ext>
            </a:extLst>
          </p:cNvPr>
          <p:cNvSpPr txBox="1"/>
          <p:nvPr/>
        </p:nvSpPr>
        <p:spPr>
          <a:xfrm>
            <a:off x="269824" y="3077764"/>
            <a:ext cx="7764904" cy="2616101"/>
          </a:xfrm>
          <a:prstGeom prst="rect">
            <a:avLst/>
          </a:prstGeom>
          <a:noFill/>
        </p:spPr>
        <p:txBody>
          <a:bodyPr wrap="square" rtlCol="0">
            <a:spAutoFit/>
          </a:bodyPr>
          <a:lstStyle/>
          <a:p>
            <a:r>
              <a:rPr lang="en-GB" sz="2000" b="1" dirty="0">
                <a:solidFill>
                  <a:schemeClr val="bg1"/>
                </a:solidFill>
              </a:rPr>
              <a:t>Churn by Tenure Group</a:t>
            </a:r>
          </a:p>
          <a:p>
            <a:r>
              <a:rPr lang="en-GB" b="1" dirty="0">
                <a:solidFill>
                  <a:schemeClr val="bg1"/>
                </a:solidFill>
              </a:rPr>
              <a:t>Key Finding</a:t>
            </a:r>
            <a:endParaRPr lang="en-GB" dirty="0">
              <a:solidFill>
                <a:schemeClr val="bg1"/>
              </a:solidFill>
            </a:endParaRPr>
          </a:p>
          <a:p>
            <a:pPr marL="285750" indent="-285750">
              <a:buFont typeface="Arial" panose="020B0604020202020204" pitchFamily="34" charset="0"/>
              <a:buChar char="•"/>
            </a:pPr>
            <a:r>
              <a:rPr lang="en-GB" dirty="0">
                <a:solidFill>
                  <a:schemeClr val="bg1"/>
                </a:solidFill>
              </a:rPr>
              <a:t>Customers with </a:t>
            </a:r>
            <a:r>
              <a:rPr lang="en-GB" b="1" dirty="0">
                <a:solidFill>
                  <a:schemeClr val="bg1"/>
                </a:solidFill>
              </a:rPr>
              <a:t>short tenure</a:t>
            </a:r>
            <a:r>
              <a:rPr lang="en-GB" dirty="0">
                <a:solidFill>
                  <a:schemeClr val="bg1"/>
                </a:solidFill>
              </a:rPr>
              <a:t> are more likely to churn. </a:t>
            </a:r>
          </a:p>
          <a:p>
            <a:pPr marL="285750" indent="-285750">
              <a:buFont typeface="Arial" panose="020B0604020202020204" pitchFamily="34" charset="0"/>
              <a:buChar char="•"/>
            </a:pPr>
            <a:r>
              <a:rPr lang="en-GB" dirty="0">
                <a:solidFill>
                  <a:schemeClr val="bg1"/>
                </a:solidFill>
              </a:rPr>
              <a:t>Customers who have stayed with the company for a longer time are less likely to leave. </a:t>
            </a:r>
          </a:p>
          <a:p>
            <a:r>
              <a:rPr lang="en-GB" b="1" dirty="0">
                <a:solidFill>
                  <a:schemeClr val="bg1"/>
                </a:solidFill>
              </a:rPr>
              <a:t>Business Insight</a:t>
            </a:r>
            <a:br>
              <a:rPr lang="en-GB" dirty="0">
                <a:solidFill>
                  <a:schemeClr val="bg1"/>
                </a:solidFill>
              </a:rPr>
            </a:br>
            <a:r>
              <a:rPr lang="en-GB" dirty="0">
                <a:solidFill>
                  <a:schemeClr val="bg1"/>
                </a:solidFill>
              </a:rPr>
              <a:t>The first few months are the most important for retaining customers. Providing excellent service and support during this period can improve customer loyalty</a:t>
            </a:r>
          </a:p>
          <a:p>
            <a:endParaRPr lang="en-GB" dirty="0"/>
          </a:p>
        </p:txBody>
      </p:sp>
      <p:pic>
        <p:nvPicPr>
          <p:cNvPr id="7" name="Picture 6">
            <a:extLst>
              <a:ext uri="{FF2B5EF4-FFF2-40B4-BE49-F238E27FC236}">
                <a16:creationId xmlns:a16="http://schemas.microsoft.com/office/drawing/2014/main" id="{DEB7E9F2-B62E-E89C-47F6-12EF896A5E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69573" y="748647"/>
            <a:ext cx="3162741" cy="2114845"/>
          </a:xfrm>
          <a:prstGeom prst="rect">
            <a:avLst/>
          </a:prstGeom>
        </p:spPr>
      </p:pic>
      <p:pic>
        <p:nvPicPr>
          <p:cNvPr id="9" name="Picture 8">
            <a:extLst>
              <a:ext uri="{FF2B5EF4-FFF2-40B4-BE49-F238E27FC236}">
                <a16:creationId xmlns:a16="http://schemas.microsoft.com/office/drawing/2014/main" id="{57B98ABD-5FB5-CB06-48CA-C024091DE8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69410" y="3423467"/>
            <a:ext cx="3458058" cy="2105319"/>
          </a:xfrm>
          <a:prstGeom prst="rect">
            <a:avLst/>
          </a:prstGeom>
        </p:spPr>
      </p:pic>
      <p:sp>
        <p:nvSpPr>
          <p:cNvPr id="10" name="TextBox 9">
            <a:extLst>
              <a:ext uri="{FF2B5EF4-FFF2-40B4-BE49-F238E27FC236}">
                <a16:creationId xmlns:a16="http://schemas.microsoft.com/office/drawing/2014/main" id="{CD75F11C-1FF1-882E-C6FB-C7BB0318A4A4}"/>
              </a:ext>
            </a:extLst>
          </p:cNvPr>
          <p:cNvSpPr txBox="1"/>
          <p:nvPr/>
        </p:nvSpPr>
        <p:spPr>
          <a:xfrm>
            <a:off x="149902" y="5356481"/>
            <a:ext cx="10987790" cy="923330"/>
          </a:xfrm>
          <a:prstGeom prst="rect">
            <a:avLst/>
          </a:prstGeom>
          <a:noFill/>
        </p:spPr>
        <p:txBody>
          <a:bodyPr wrap="square" rtlCol="0">
            <a:spAutoFit/>
          </a:bodyPr>
          <a:lstStyle/>
          <a:p>
            <a:r>
              <a:rPr lang="en-GB" b="1" dirty="0">
                <a:solidFill>
                  <a:schemeClr val="bg1"/>
                </a:solidFill>
              </a:rPr>
              <a:t>Overall Insight :</a:t>
            </a:r>
          </a:p>
          <a:p>
            <a:r>
              <a:rPr lang="en-GB" b="1" dirty="0">
                <a:solidFill>
                  <a:schemeClr val="bg1"/>
                </a:solidFill>
              </a:rPr>
              <a:t>Contract type and customer tenure are two of the strongest factors influencing churn. Customers on month-to-month contracts and those with shorter tenure are at the highest risk of leaving the company.</a:t>
            </a:r>
          </a:p>
        </p:txBody>
      </p:sp>
    </p:spTree>
    <p:extLst>
      <p:ext uri="{BB962C8B-B14F-4D97-AF65-F5344CB8AC3E}">
        <p14:creationId xmlns:p14="http://schemas.microsoft.com/office/powerpoint/2010/main" val="1877937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983877C-2E19-2063-29BA-65CD9304FDB6}"/>
              </a:ext>
            </a:extLst>
          </p:cNvPr>
          <p:cNvSpPr txBox="1"/>
          <p:nvPr/>
        </p:nvSpPr>
        <p:spPr>
          <a:xfrm>
            <a:off x="0" y="239843"/>
            <a:ext cx="9443804" cy="6863417"/>
          </a:xfrm>
          <a:prstGeom prst="rect">
            <a:avLst/>
          </a:prstGeom>
          <a:noFill/>
        </p:spPr>
        <p:txBody>
          <a:bodyPr wrap="square" rtlCol="0">
            <a:spAutoFit/>
          </a:bodyPr>
          <a:lstStyle/>
          <a:p>
            <a:pPr algn="ctr"/>
            <a:r>
              <a:rPr lang="en-GB" b="1" dirty="0">
                <a:solidFill>
                  <a:schemeClr val="bg1"/>
                </a:solidFill>
              </a:rPr>
              <a:t>Key Drivers of Customer Churn</a:t>
            </a:r>
          </a:p>
          <a:p>
            <a:r>
              <a:rPr lang="en-GB" sz="1600" b="1" dirty="0">
                <a:solidFill>
                  <a:schemeClr val="bg1"/>
                </a:solidFill>
              </a:rPr>
              <a:t>Monthly Charges vs Churn</a:t>
            </a:r>
          </a:p>
          <a:p>
            <a:r>
              <a:rPr lang="en-GB" sz="1600" b="1" dirty="0">
                <a:solidFill>
                  <a:schemeClr val="bg1"/>
                </a:solidFill>
              </a:rPr>
              <a:t>Key Finding</a:t>
            </a:r>
          </a:p>
          <a:p>
            <a:r>
              <a:rPr lang="en-GB" sz="1600" dirty="0">
                <a:solidFill>
                  <a:schemeClr val="bg1"/>
                </a:solidFill>
              </a:rPr>
              <a:t>Customers with </a:t>
            </a:r>
            <a:r>
              <a:rPr lang="en-GB" sz="1600" b="1" dirty="0">
                <a:solidFill>
                  <a:schemeClr val="bg1"/>
                </a:solidFill>
              </a:rPr>
              <a:t>higher monthly charges</a:t>
            </a:r>
            <a:r>
              <a:rPr lang="en-GB" sz="1600" dirty="0">
                <a:solidFill>
                  <a:schemeClr val="bg1"/>
                </a:solidFill>
              </a:rPr>
              <a:t> are more likely to churn than those with lower monthly charges.</a:t>
            </a:r>
          </a:p>
          <a:p>
            <a:r>
              <a:rPr lang="en-GB" sz="1600" b="1" dirty="0">
                <a:solidFill>
                  <a:schemeClr val="bg1"/>
                </a:solidFill>
              </a:rPr>
              <a:t>Business Insight</a:t>
            </a:r>
          </a:p>
          <a:p>
            <a:r>
              <a:rPr lang="en-GB" sz="1600" dirty="0">
                <a:solidFill>
                  <a:schemeClr val="bg1"/>
                </a:solidFill>
              </a:rPr>
              <a:t>Higher service costs may reduce customer satisfaction, especially if customers feel they are not receiving enough value for the price they pay.</a:t>
            </a:r>
          </a:p>
          <a:p>
            <a:r>
              <a:rPr lang="en-GB" sz="1600" b="1" dirty="0">
                <a:solidFill>
                  <a:schemeClr val="bg1"/>
                </a:solidFill>
              </a:rPr>
              <a:t>Internet Service vs Churn</a:t>
            </a:r>
          </a:p>
          <a:p>
            <a:r>
              <a:rPr lang="en-GB" sz="1600" b="1" dirty="0">
                <a:solidFill>
                  <a:schemeClr val="bg1"/>
                </a:solidFill>
              </a:rPr>
              <a:t>Key Finding</a:t>
            </a:r>
          </a:p>
          <a:p>
            <a:r>
              <a:rPr lang="en-GB" sz="1600" dirty="0">
                <a:solidFill>
                  <a:schemeClr val="bg1"/>
                </a:solidFill>
              </a:rPr>
              <a:t>Customers using </a:t>
            </a:r>
            <a:r>
              <a:rPr lang="en-GB" sz="1600" b="1" dirty="0">
                <a:solidFill>
                  <a:schemeClr val="bg1"/>
                </a:solidFill>
              </a:rPr>
              <a:t>Fibre Optic</a:t>
            </a:r>
            <a:r>
              <a:rPr lang="en-GB" sz="1600" dirty="0">
                <a:solidFill>
                  <a:schemeClr val="bg1"/>
                </a:solidFill>
              </a:rPr>
              <a:t> internet have a higher churn rate than customers using DSL or those without internet service.</a:t>
            </a:r>
          </a:p>
          <a:p>
            <a:r>
              <a:rPr lang="en-GB" sz="1600" b="1" dirty="0">
                <a:solidFill>
                  <a:schemeClr val="bg1"/>
                </a:solidFill>
              </a:rPr>
              <a:t>Business Insight</a:t>
            </a:r>
          </a:p>
          <a:p>
            <a:r>
              <a:rPr lang="en-GB" sz="1600" dirty="0">
                <a:solidFill>
                  <a:schemeClr val="bg1"/>
                </a:solidFill>
              </a:rPr>
              <a:t>This suggests that Fiber Optic customers may be experiencing issues related to pricing, service quality, or unmet expectations. The company should investigate customer feedback and improve the Fiber Optic experience.</a:t>
            </a:r>
          </a:p>
          <a:p>
            <a:r>
              <a:rPr lang="en-GB" sz="1600" b="1" dirty="0">
                <a:solidFill>
                  <a:schemeClr val="bg1"/>
                </a:solidFill>
              </a:rPr>
              <a:t>Payment Method vs Churn</a:t>
            </a:r>
          </a:p>
          <a:p>
            <a:r>
              <a:rPr lang="en-GB" sz="1600" b="1" dirty="0">
                <a:solidFill>
                  <a:schemeClr val="bg1"/>
                </a:solidFill>
              </a:rPr>
              <a:t>Key Finding</a:t>
            </a:r>
          </a:p>
          <a:p>
            <a:r>
              <a:rPr lang="en-GB" sz="1600" dirty="0">
                <a:solidFill>
                  <a:schemeClr val="bg1"/>
                </a:solidFill>
              </a:rPr>
              <a:t>Customers who pay using </a:t>
            </a:r>
            <a:r>
              <a:rPr lang="en-GB" sz="1600" b="1" dirty="0">
                <a:solidFill>
                  <a:schemeClr val="bg1"/>
                </a:solidFill>
              </a:rPr>
              <a:t>Electronic Check</a:t>
            </a:r>
            <a:r>
              <a:rPr lang="en-GB" sz="1600" dirty="0">
                <a:solidFill>
                  <a:schemeClr val="bg1"/>
                </a:solidFill>
              </a:rPr>
              <a:t> have the highest churn rate, while customers using </a:t>
            </a:r>
            <a:r>
              <a:rPr lang="en-GB" sz="1600" b="1" dirty="0">
                <a:solidFill>
                  <a:schemeClr val="bg1"/>
                </a:solidFill>
              </a:rPr>
              <a:t>automatic payment methods</a:t>
            </a:r>
            <a:r>
              <a:rPr lang="en-GB" sz="1600" dirty="0">
                <a:solidFill>
                  <a:schemeClr val="bg1"/>
                </a:solidFill>
              </a:rPr>
              <a:t> are less likely to leave.</a:t>
            </a:r>
          </a:p>
          <a:p>
            <a:r>
              <a:rPr lang="en-GB" sz="1600" b="1" dirty="0">
                <a:solidFill>
                  <a:schemeClr val="bg1"/>
                </a:solidFill>
              </a:rPr>
              <a:t>Business Insight</a:t>
            </a:r>
          </a:p>
          <a:p>
            <a:r>
              <a:rPr lang="en-GB" sz="1600" dirty="0">
                <a:solidFill>
                  <a:schemeClr val="bg1"/>
                </a:solidFill>
              </a:rPr>
              <a:t>Automatic payment methods may improve customer convenience and strengthen long-term customer relationships. Encouraging customers to switch to automatic payments could help reduce churn.</a:t>
            </a:r>
          </a:p>
          <a:p>
            <a:r>
              <a:rPr lang="en-GB" sz="1600" b="1" dirty="0">
                <a:solidFill>
                  <a:schemeClr val="bg1"/>
                </a:solidFill>
              </a:rPr>
              <a:t>Overall Insight :</a:t>
            </a:r>
          </a:p>
          <a:p>
            <a:r>
              <a:rPr lang="en-GB" sz="1600" b="1" dirty="0">
                <a:solidFill>
                  <a:schemeClr val="bg1"/>
                </a:solidFill>
              </a:rPr>
              <a:t>Monthly charges, internet service, and payment method all influence customer churn. Customers paying higher monthly charges, using Fiber Optic services, or paying by electronic check are at greater risk of leaving the company.</a:t>
            </a:r>
            <a:endParaRPr lang="en-GB" sz="1600" dirty="0">
              <a:solidFill>
                <a:schemeClr val="bg1"/>
              </a:solidFill>
            </a:endParaRPr>
          </a:p>
          <a:p>
            <a:endParaRPr lang="en-GB" sz="1600" dirty="0"/>
          </a:p>
          <a:p>
            <a:endParaRPr lang="en-GB" sz="1600" dirty="0"/>
          </a:p>
        </p:txBody>
      </p:sp>
      <p:pic>
        <p:nvPicPr>
          <p:cNvPr id="4" name="Picture 3">
            <a:extLst>
              <a:ext uri="{FF2B5EF4-FFF2-40B4-BE49-F238E27FC236}">
                <a16:creationId xmlns:a16="http://schemas.microsoft.com/office/drawing/2014/main" id="{01BB9730-7974-475E-34A3-54647D52DF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3804" y="1751440"/>
            <a:ext cx="2659261" cy="1759759"/>
          </a:xfrm>
          <a:prstGeom prst="rect">
            <a:avLst/>
          </a:prstGeom>
        </p:spPr>
      </p:pic>
      <p:pic>
        <p:nvPicPr>
          <p:cNvPr id="6" name="Picture 5">
            <a:extLst>
              <a:ext uri="{FF2B5EF4-FFF2-40B4-BE49-F238E27FC236}">
                <a16:creationId xmlns:a16="http://schemas.microsoft.com/office/drawing/2014/main" id="{52B6FA63-D678-5891-3205-732FB9B2DD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43804" y="239843"/>
            <a:ext cx="2396303" cy="1439055"/>
          </a:xfrm>
          <a:prstGeom prst="rect">
            <a:avLst/>
          </a:prstGeom>
        </p:spPr>
      </p:pic>
      <p:pic>
        <p:nvPicPr>
          <p:cNvPr id="8" name="Picture 7">
            <a:extLst>
              <a:ext uri="{FF2B5EF4-FFF2-40B4-BE49-F238E27FC236}">
                <a16:creationId xmlns:a16="http://schemas.microsoft.com/office/drawing/2014/main" id="{C483CE27-13D4-EB76-9A8E-49D8AAE0A8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43803" y="3547470"/>
            <a:ext cx="2659261" cy="1759759"/>
          </a:xfrm>
          <a:prstGeom prst="rect">
            <a:avLst/>
          </a:prstGeom>
        </p:spPr>
      </p:pic>
    </p:spTree>
    <p:extLst>
      <p:ext uri="{BB962C8B-B14F-4D97-AF65-F5344CB8AC3E}">
        <p14:creationId xmlns:p14="http://schemas.microsoft.com/office/powerpoint/2010/main" val="3472443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5EB179-6CA6-B6B0-9100-152C78468A9B}"/>
              </a:ext>
            </a:extLst>
          </p:cNvPr>
          <p:cNvSpPr txBox="1"/>
          <p:nvPr/>
        </p:nvSpPr>
        <p:spPr>
          <a:xfrm>
            <a:off x="179882" y="0"/>
            <a:ext cx="11017770" cy="3816429"/>
          </a:xfrm>
          <a:prstGeom prst="rect">
            <a:avLst/>
          </a:prstGeom>
          <a:noFill/>
        </p:spPr>
        <p:txBody>
          <a:bodyPr wrap="square" rtlCol="0">
            <a:spAutoFit/>
          </a:bodyPr>
          <a:lstStyle/>
          <a:p>
            <a:pPr algn="ctr"/>
            <a:r>
              <a:rPr lang="en-GB" sz="2400" b="1" dirty="0">
                <a:solidFill>
                  <a:schemeClr val="bg1"/>
                </a:solidFill>
              </a:rPr>
              <a:t>Customer Churn Correlation Analysis</a:t>
            </a:r>
          </a:p>
          <a:p>
            <a:pPr algn="ctr"/>
            <a:r>
              <a:rPr lang="en-GB" sz="2000" b="1" dirty="0">
                <a:solidFill>
                  <a:schemeClr val="bg1"/>
                </a:solidFill>
              </a:rPr>
              <a:t>Key Factors Associated with Customer Churn</a:t>
            </a:r>
          </a:p>
          <a:p>
            <a:pPr algn="ctr"/>
            <a:r>
              <a:rPr lang="en-GB" dirty="0">
                <a:solidFill>
                  <a:schemeClr val="bg1"/>
                </a:solidFill>
              </a:rPr>
              <a:t>  </a:t>
            </a:r>
          </a:p>
          <a:p>
            <a:pPr marL="285750" indent="-285750">
              <a:buFont typeface="Arial" panose="020B0604020202020204" pitchFamily="34" charset="0"/>
              <a:buChar char="•"/>
            </a:pPr>
            <a:r>
              <a:rPr lang="en-GB" b="1" dirty="0">
                <a:solidFill>
                  <a:schemeClr val="bg1"/>
                </a:solidFill>
              </a:rPr>
              <a:t>Tenure</a:t>
            </a:r>
            <a:r>
              <a:rPr lang="en-GB" dirty="0">
                <a:solidFill>
                  <a:schemeClr val="bg1"/>
                </a:solidFill>
              </a:rPr>
              <a:t> has the strongest relationship with churn (</a:t>
            </a:r>
            <a:r>
              <a:rPr lang="en-GB" b="1" dirty="0">
                <a:solidFill>
                  <a:schemeClr val="bg1"/>
                </a:solidFill>
              </a:rPr>
              <a:t>r = -0.352</a:t>
            </a:r>
            <a:r>
              <a:rPr lang="en-GB" dirty="0">
                <a:solidFill>
                  <a:schemeClr val="bg1"/>
                </a:solidFill>
              </a:rPr>
              <a:t>), indicating that long-term customers are less likely to leave.</a:t>
            </a:r>
          </a:p>
          <a:p>
            <a:pPr marL="285750" indent="-285750">
              <a:buFont typeface="Arial" panose="020B0604020202020204" pitchFamily="34" charset="0"/>
              <a:buChar char="•"/>
            </a:pPr>
            <a:r>
              <a:rPr lang="en-GB" dirty="0">
                <a:solidFill>
                  <a:schemeClr val="bg1"/>
                </a:solidFill>
              </a:rPr>
              <a:t> </a:t>
            </a:r>
            <a:r>
              <a:rPr lang="en-GB" b="1" dirty="0">
                <a:solidFill>
                  <a:schemeClr val="bg1"/>
                </a:solidFill>
              </a:rPr>
              <a:t>Monthly Charges</a:t>
            </a:r>
            <a:r>
              <a:rPr lang="en-GB" dirty="0">
                <a:solidFill>
                  <a:schemeClr val="bg1"/>
                </a:solidFill>
              </a:rPr>
              <a:t> show a weak positive correlation with churn (</a:t>
            </a:r>
            <a:r>
              <a:rPr lang="en-GB" b="1" dirty="0">
                <a:solidFill>
                  <a:schemeClr val="bg1"/>
                </a:solidFill>
              </a:rPr>
              <a:t>r = 0.193</a:t>
            </a:r>
            <a:r>
              <a:rPr lang="en-GB" dirty="0">
                <a:solidFill>
                  <a:schemeClr val="bg1"/>
                </a:solidFill>
              </a:rPr>
              <a:t>), suggesting customers with higher monthly bills are slightly more likely to churn. </a:t>
            </a:r>
          </a:p>
          <a:p>
            <a:pPr marL="285750" indent="-285750">
              <a:buFont typeface="Arial" panose="020B0604020202020204" pitchFamily="34" charset="0"/>
              <a:buChar char="•"/>
            </a:pPr>
            <a:r>
              <a:rPr lang="en-GB" b="1" dirty="0">
                <a:solidFill>
                  <a:schemeClr val="bg1"/>
                </a:solidFill>
              </a:rPr>
              <a:t>Total Charges</a:t>
            </a:r>
            <a:r>
              <a:rPr lang="en-GB" dirty="0">
                <a:solidFill>
                  <a:schemeClr val="bg1"/>
                </a:solidFill>
              </a:rPr>
              <a:t> are strongly correlated with </a:t>
            </a:r>
            <a:r>
              <a:rPr lang="en-GB" b="1" dirty="0">
                <a:solidFill>
                  <a:schemeClr val="bg1"/>
                </a:solidFill>
              </a:rPr>
              <a:t>Tenure</a:t>
            </a:r>
            <a:r>
              <a:rPr lang="en-GB" dirty="0">
                <a:solidFill>
                  <a:schemeClr val="bg1"/>
                </a:solidFill>
              </a:rPr>
              <a:t> (</a:t>
            </a:r>
            <a:r>
              <a:rPr lang="en-GB" b="1" dirty="0">
                <a:solidFill>
                  <a:schemeClr val="bg1"/>
                </a:solidFill>
              </a:rPr>
              <a:t>r = 0.826</a:t>
            </a:r>
            <a:r>
              <a:rPr lang="en-GB" dirty="0">
                <a:solidFill>
                  <a:schemeClr val="bg1"/>
                </a:solidFill>
              </a:rPr>
              <a:t>), as customers who stay longer accumulate higher charges. </a:t>
            </a:r>
          </a:p>
          <a:p>
            <a:pPr marL="285750" indent="-285750">
              <a:buFont typeface="Arial" panose="020B0604020202020204" pitchFamily="34" charset="0"/>
              <a:buChar char="•"/>
            </a:pPr>
            <a:r>
              <a:rPr lang="en-GB" b="1" dirty="0">
                <a:solidFill>
                  <a:schemeClr val="bg1"/>
                </a:solidFill>
              </a:rPr>
              <a:t>Dependents</a:t>
            </a:r>
            <a:r>
              <a:rPr lang="en-GB" dirty="0">
                <a:solidFill>
                  <a:schemeClr val="bg1"/>
                </a:solidFill>
              </a:rPr>
              <a:t> have a weak negative relationship with churn (</a:t>
            </a:r>
            <a:r>
              <a:rPr lang="en-GB" b="1" dirty="0">
                <a:solidFill>
                  <a:schemeClr val="bg1"/>
                </a:solidFill>
              </a:rPr>
              <a:t>r = -0.164</a:t>
            </a:r>
            <a:r>
              <a:rPr lang="en-GB" dirty="0">
                <a:solidFill>
                  <a:schemeClr val="bg1"/>
                </a:solidFill>
              </a:rPr>
              <a:t>), indicating they are slightly less likely to leave.</a:t>
            </a:r>
          </a:p>
          <a:p>
            <a:pPr algn="ctr"/>
            <a:r>
              <a:rPr lang="en-GB" b="1" dirty="0">
                <a:solidFill>
                  <a:schemeClr val="bg1"/>
                </a:solidFill>
              </a:rPr>
              <a:t>CORRELATION HEATMAP</a:t>
            </a:r>
          </a:p>
          <a:p>
            <a:endParaRPr lang="en-GB" dirty="0">
              <a:solidFill>
                <a:schemeClr val="bg1"/>
              </a:solidFill>
            </a:endParaRPr>
          </a:p>
        </p:txBody>
      </p:sp>
      <p:pic>
        <p:nvPicPr>
          <p:cNvPr id="4" name="Picture 3">
            <a:extLst>
              <a:ext uri="{FF2B5EF4-FFF2-40B4-BE49-F238E27FC236}">
                <a16:creationId xmlns:a16="http://schemas.microsoft.com/office/drawing/2014/main" id="{915E0962-7F40-D458-4593-547C9AF874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882" y="3583395"/>
            <a:ext cx="11832236" cy="2308324"/>
          </a:xfrm>
          <a:prstGeom prst="rect">
            <a:avLst/>
          </a:prstGeom>
        </p:spPr>
      </p:pic>
      <p:sp>
        <p:nvSpPr>
          <p:cNvPr id="5" name="TextBox 4">
            <a:extLst>
              <a:ext uri="{FF2B5EF4-FFF2-40B4-BE49-F238E27FC236}">
                <a16:creationId xmlns:a16="http://schemas.microsoft.com/office/drawing/2014/main" id="{96934436-EA1E-BB43-8303-F1E340D09E11}"/>
              </a:ext>
            </a:extLst>
          </p:cNvPr>
          <p:cNvSpPr txBox="1"/>
          <p:nvPr/>
        </p:nvSpPr>
        <p:spPr>
          <a:xfrm>
            <a:off x="359764" y="5891719"/>
            <a:ext cx="8784236" cy="923330"/>
          </a:xfrm>
          <a:prstGeom prst="rect">
            <a:avLst/>
          </a:prstGeom>
          <a:noFill/>
        </p:spPr>
        <p:txBody>
          <a:bodyPr wrap="square" rtlCol="0">
            <a:spAutoFit/>
          </a:bodyPr>
          <a:lstStyle/>
          <a:p>
            <a:r>
              <a:rPr lang="en-GB" b="1" dirty="0">
                <a:solidFill>
                  <a:schemeClr val="bg1"/>
                </a:solidFill>
              </a:rPr>
              <a:t>Overall Insight: Most variables have weak correlations with churn, suggesting that customer churn is influenced by multiple factors rather than a single variable. </a:t>
            </a:r>
          </a:p>
          <a:p>
            <a:endParaRPr lang="en-GB" dirty="0"/>
          </a:p>
        </p:txBody>
      </p:sp>
    </p:spTree>
    <p:extLst>
      <p:ext uri="{BB962C8B-B14F-4D97-AF65-F5344CB8AC3E}">
        <p14:creationId xmlns:p14="http://schemas.microsoft.com/office/powerpoint/2010/main" val="715767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A45DA2-8A22-089F-0861-B113CBDE006B}"/>
              </a:ext>
            </a:extLst>
          </p:cNvPr>
          <p:cNvSpPr txBox="1"/>
          <p:nvPr/>
        </p:nvSpPr>
        <p:spPr>
          <a:xfrm>
            <a:off x="134911" y="0"/>
            <a:ext cx="12057089" cy="6001643"/>
          </a:xfrm>
          <a:prstGeom prst="rect">
            <a:avLst/>
          </a:prstGeom>
          <a:noFill/>
        </p:spPr>
        <p:txBody>
          <a:bodyPr wrap="square" rtlCol="0">
            <a:spAutoFit/>
          </a:bodyPr>
          <a:lstStyle/>
          <a:p>
            <a:pPr algn="ctr"/>
            <a:r>
              <a:rPr lang="en-US" sz="2400" dirty="0">
                <a:solidFill>
                  <a:schemeClr val="bg1"/>
                </a:solidFill>
              </a:rPr>
              <a:t>RECOMMENDATION</a:t>
            </a:r>
          </a:p>
          <a:p>
            <a:r>
              <a:rPr lang="en-GB" sz="2400" b="1" dirty="0">
                <a:solidFill>
                  <a:schemeClr val="bg1"/>
                </a:solidFill>
              </a:rPr>
              <a:t>1. Promote Long-Term Contracts</a:t>
            </a:r>
          </a:p>
          <a:p>
            <a:r>
              <a:rPr lang="en-GB" sz="2400" dirty="0">
                <a:solidFill>
                  <a:schemeClr val="bg1"/>
                </a:solidFill>
              </a:rPr>
              <a:t>Customers on </a:t>
            </a:r>
            <a:r>
              <a:rPr lang="en-GB" sz="2400" b="1" dirty="0">
                <a:solidFill>
                  <a:schemeClr val="bg1"/>
                </a:solidFill>
              </a:rPr>
              <a:t>month-to-month contracts</a:t>
            </a:r>
            <a:r>
              <a:rPr lang="en-GB" sz="2400" dirty="0">
                <a:solidFill>
                  <a:schemeClr val="bg1"/>
                </a:solidFill>
              </a:rPr>
              <a:t> are most likely to churn.</a:t>
            </a:r>
          </a:p>
          <a:p>
            <a:r>
              <a:rPr lang="en-GB" sz="2400" b="1" dirty="0">
                <a:solidFill>
                  <a:schemeClr val="bg1"/>
                </a:solidFill>
              </a:rPr>
              <a:t>Recommendation:</a:t>
            </a: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Encourage customers to switch to </a:t>
            </a:r>
            <a:r>
              <a:rPr lang="en-GB" sz="2400" b="1" dirty="0">
                <a:solidFill>
                  <a:schemeClr val="bg1"/>
                </a:solidFill>
              </a:rPr>
              <a:t>one-year or two-year contracts</a:t>
            </a:r>
            <a:r>
              <a:rPr lang="en-GB" sz="2400" dirty="0">
                <a:solidFill>
                  <a:schemeClr val="bg1"/>
                </a:solidFill>
              </a:rPr>
              <a:t> </a:t>
            </a:r>
          </a:p>
          <a:p>
            <a:pPr marL="342900" indent="-342900">
              <a:buFont typeface="Arial" panose="020B0604020202020204" pitchFamily="34" charset="0"/>
              <a:buChar char="•"/>
            </a:pPr>
            <a:r>
              <a:rPr lang="en-GB" sz="2400" dirty="0">
                <a:solidFill>
                  <a:schemeClr val="bg1"/>
                </a:solidFill>
              </a:rPr>
              <a:t>Offer discounts or special benefits for long-term commitments </a:t>
            </a:r>
          </a:p>
          <a:p>
            <a:r>
              <a:rPr lang="en-GB" sz="2400" b="1" dirty="0">
                <a:solidFill>
                  <a:schemeClr val="bg1"/>
                </a:solidFill>
              </a:rPr>
              <a:t>Expected Impact:</a:t>
            </a:r>
            <a:br>
              <a:rPr lang="en-GB" sz="2400" dirty="0">
                <a:solidFill>
                  <a:schemeClr val="bg1"/>
                </a:solidFill>
              </a:rPr>
            </a:br>
            <a:r>
              <a:rPr lang="en-GB" sz="2400" dirty="0">
                <a:solidFill>
                  <a:schemeClr val="bg1"/>
                </a:solidFill>
              </a:rPr>
              <a:t>Improves customer loyalty and reduces the likelihood of customers leaving.</a:t>
            </a:r>
          </a:p>
          <a:p>
            <a:r>
              <a:rPr lang="en-GB" sz="2400" b="1" dirty="0">
                <a:solidFill>
                  <a:schemeClr val="bg1"/>
                </a:solidFill>
              </a:rPr>
              <a:t>2. Improve Early Customer Experience</a:t>
            </a:r>
          </a:p>
          <a:p>
            <a:r>
              <a:rPr lang="en-GB" sz="2400" dirty="0">
                <a:solidFill>
                  <a:schemeClr val="bg1"/>
                </a:solidFill>
              </a:rPr>
              <a:t>Customers with </a:t>
            </a:r>
            <a:r>
              <a:rPr lang="en-GB" sz="2400" b="1" dirty="0">
                <a:solidFill>
                  <a:schemeClr val="bg1"/>
                </a:solidFill>
              </a:rPr>
              <a:t>low tenure</a:t>
            </a:r>
            <a:r>
              <a:rPr lang="en-GB" sz="2400" dirty="0">
                <a:solidFill>
                  <a:schemeClr val="bg1"/>
                </a:solidFill>
              </a:rPr>
              <a:t> are more likely to churn.</a:t>
            </a:r>
          </a:p>
          <a:p>
            <a:r>
              <a:rPr lang="en-GB" sz="2400" b="1" dirty="0">
                <a:solidFill>
                  <a:schemeClr val="bg1"/>
                </a:solidFill>
              </a:rPr>
              <a:t>Recommendation:</a:t>
            </a:r>
            <a:endParaRPr lang="en-GB" sz="2400" dirty="0">
              <a:solidFill>
                <a:schemeClr val="bg1"/>
              </a:solidFill>
            </a:endParaRPr>
          </a:p>
          <a:p>
            <a:pPr marL="342900" indent="-342900">
              <a:buFont typeface="Arial" panose="020B0604020202020204" pitchFamily="34" charset="0"/>
              <a:buChar char="•"/>
            </a:pPr>
            <a:r>
              <a:rPr lang="en-GB" sz="2400" dirty="0">
                <a:solidFill>
                  <a:schemeClr val="bg1"/>
                </a:solidFill>
              </a:rPr>
              <a:t>Strengthen onboarding processes for new customers </a:t>
            </a:r>
          </a:p>
          <a:p>
            <a:pPr marL="342900" indent="-342900">
              <a:buFont typeface="Arial" panose="020B0604020202020204" pitchFamily="34" charset="0"/>
              <a:buChar char="•"/>
            </a:pPr>
            <a:r>
              <a:rPr lang="en-GB" sz="2400" dirty="0">
                <a:solidFill>
                  <a:schemeClr val="bg1"/>
                </a:solidFill>
              </a:rPr>
              <a:t>Provide better support during the first 3–6 months </a:t>
            </a:r>
          </a:p>
          <a:p>
            <a:pPr marL="342900" indent="-342900">
              <a:buFont typeface="Arial" panose="020B0604020202020204" pitchFamily="34" charset="0"/>
              <a:buChar char="•"/>
            </a:pPr>
            <a:r>
              <a:rPr lang="en-GB" sz="2400" dirty="0">
                <a:solidFill>
                  <a:schemeClr val="bg1"/>
                </a:solidFill>
              </a:rPr>
              <a:t>Offer welcome benefits or tutorials for new users </a:t>
            </a:r>
          </a:p>
          <a:p>
            <a:r>
              <a:rPr lang="en-GB" sz="2400" b="1" dirty="0">
                <a:solidFill>
                  <a:schemeClr val="bg1"/>
                </a:solidFill>
              </a:rPr>
              <a:t>Expected Impact:</a:t>
            </a:r>
            <a:br>
              <a:rPr lang="en-GB" sz="2400" dirty="0">
                <a:solidFill>
                  <a:schemeClr val="bg1"/>
                </a:solidFill>
              </a:rPr>
            </a:br>
            <a:r>
              <a:rPr lang="en-GB" sz="2400" dirty="0">
                <a:solidFill>
                  <a:schemeClr val="bg1"/>
                </a:solidFill>
              </a:rPr>
              <a:t>Increases customer satisfaction during the critical early stage and improves retention</a:t>
            </a:r>
            <a:r>
              <a:rPr lang="en-GB" dirty="0">
                <a:solidFill>
                  <a:schemeClr val="bg1"/>
                </a:solidFill>
              </a:rPr>
              <a:t>.</a:t>
            </a:r>
          </a:p>
        </p:txBody>
      </p:sp>
    </p:spTree>
    <p:extLst>
      <p:ext uri="{BB962C8B-B14F-4D97-AF65-F5344CB8AC3E}">
        <p14:creationId xmlns:p14="http://schemas.microsoft.com/office/powerpoint/2010/main" val="1595939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D6AA45-8FCA-8B33-F543-629F73711C7F}"/>
              </a:ext>
            </a:extLst>
          </p:cNvPr>
          <p:cNvSpPr txBox="1"/>
          <p:nvPr/>
        </p:nvSpPr>
        <p:spPr>
          <a:xfrm>
            <a:off x="149902" y="117693"/>
            <a:ext cx="11722308" cy="6740307"/>
          </a:xfrm>
          <a:prstGeom prst="rect">
            <a:avLst/>
          </a:prstGeom>
          <a:noFill/>
        </p:spPr>
        <p:txBody>
          <a:bodyPr wrap="square" rtlCol="0">
            <a:spAutoFit/>
          </a:bodyPr>
          <a:lstStyle/>
          <a:p>
            <a:pPr algn="ctr"/>
            <a:r>
              <a:rPr lang="en-GB" sz="1400" b="1" dirty="0">
                <a:solidFill>
                  <a:schemeClr val="bg1"/>
                </a:solidFill>
              </a:rPr>
              <a:t>RECOMMENDATION</a:t>
            </a:r>
          </a:p>
          <a:p>
            <a:r>
              <a:rPr lang="en-GB" sz="1600" dirty="0">
                <a:solidFill>
                  <a:schemeClr val="bg1"/>
                </a:solidFill>
              </a:rPr>
              <a:t>3. Review Pricing Strategy</a:t>
            </a:r>
          </a:p>
          <a:p>
            <a:r>
              <a:rPr lang="en-GB" sz="1600" dirty="0">
                <a:solidFill>
                  <a:schemeClr val="bg1"/>
                </a:solidFill>
              </a:rPr>
              <a:t>Customers with high monthly charges tend to churn more.</a:t>
            </a:r>
          </a:p>
          <a:p>
            <a:r>
              <a:rPr lang="en-GB" sz="1600" dirty="0">
                <a:solidFill>
                  <a:schemeClr val="bg1"/>
                </a:solidFill>
              </a:rPr>
              <a:t>Recommendation:</a:t>
            </a:r>
          </a:p>
          <a:p>
            <a:pPr marL="285750" indent="-285750">
              <a:buFont typeface="Arial" panose="020B0604020202020204" pitchFamily="34" charset="0"/>
              <a:buChar char="•"/>
            </a:pPr>
            <a:r>
              <a:rPr lang="en-GB" sz="1600" dirty="0">
                <a:solidFill>
                  <a:schemeClr val="bg1"/>
                </a:solidFill>
              </a:rPr>
              <a:t>Review pricing structure for fairness and competitiveness  </a:t>
            </a:r>
          </a:p>
          <a:p>
            <a:pPr marL="285750" indent="-285750">
              <a:buFont typeface="Arial" panose="020B0604020202020204" pitchFamily="34" charset="0"/>
              <a:buChar char="•"/>
            </a:pPr>
            <a:r>
              <a:rPr lang="en-GB" sz="1600" dirty="0">
                <a:solidFill>
                  <a:schemeClr val="bg1"/>
                </a:solidFill>
              </a:rPr>
              <a:t>Offer bundled packages for better value </a:t>
            </a:r>
          </a:p>
          <a:p>
            <a:r>
              <a:rPr lang="en-GB" sz="1600" dirty="0">
                <a:solidFill>
                  <a:schemeClr val="bg1"/>
                </a:solidFill>
              </a:rPr>
              <a:t>Expected Impact:</a:t>
            </a:r>
            <a:br>
              <a:rPr lang="en-GB" sz="1600" dirty="0">
                <a:solidFill>
                  <a:schemeClr val="bg1"/>
                </a:solidFill>
              </a:rPr>
            </a:br>
            <a:r>
              <a:rPr lang="en-GB" sz="1600" dirty="0">
                <a:solidFill>
                  <a:schemeClr val="bg1"/>
                </a:solidFill>
              </a:rPr>
              <a:t>Reduces price-related dissatisfaction and improves perceived value.</a:t>
            </a:r>
          </a:p>
          <a:p>
            <a:br>
              <a:rPr lang="en-GB" sz="1600" dirty="0">
                <a:solidFill>
                  <a:schemeClr val="bg1"/>
                </a:solidFill>
              </a:rPr>
            </a:br>
            <a:endParaRPr lang="en-GB" sz="1600" dirty="0">
              <a:solidFill>
                <a:schemeClr val="bg1"/>
              </a:solidFill>
            </a:endParaRPr>
          </a:p>
          <a:p>
            <a:r>
              <a:rPr lang="en-GB" sz="1600" dirty="0">
                <a:solidFill>
                  <a:schemeClr val="bg1"/>
                </a:solidFill>
              </a:rPr>
              <a:t>4. Improve Fiber Optic Service Experience</a:t>
            </a:r>
          </a:p>
          <a:p>
            <a:r>
              <a:rPr lang="en-GB" sz="1600" dirty="0">
                <a:solidFill>
                  <a:schemeClr val="bg1"/>
                </a:solidFill>
              </a:rPr>
              <a:t>Fibre Optic users show higher churn rates.</a:t>
            </a:r>
          </a:p>
          <a:p>
            <a:r>
              <a:rPr lang="en-GB" sz="1600" dirty="0">
                <a:solidFill>
                  <a:schemeClr val="bg1"/>
                </a:solidFill>
              </a:rPr>
              <a:t>Recommendation:</a:t>
            </a:r>
          </a:p>
          <a:p>
            <a:pPr marL="285750" indent="-285750">
              <a:buFont typeface="Arial" panose="020B0604020202020204" pitchFamily="34" charset="0"/>
              <a:buChar char="•"/>
            </a:pPr>
            <a:r>
              <a:rPr lang="en-GB" sz="1600" dirty="0">
                <a:solidFill>
                  <a:schemeClr val="bg1"/>
                </a:solidFill>
              </a:rPr>
              <a:t>Investigate service quality issues (speed, downtime, support) </a:t>
            </a:r>
          </a:p>
          <a:p>
            <a:pPr marL="285750" indent="-285750">
              <a:buFont typeface="Arial" panose="020B0604020202020204" pitchFamily="34" charset="0"/>
              <a:buChar char="•"/>
            </a:pPr>
            <a:r>
              <a:rPr lang="en-GB" sz="1600" dirty="0">
                <a:solidFill>
                  <a:schemeClr val="bg1"/>
                </a:solidFill>
              </a:rPr>
              <a:t>Collect customer feedback specifically from Fiber Optic users </a:t>
            </a:r>
          </a:p>
          <a:p>
            <a:endParaRPr lang="en-GB" sz="1600" dirty="0">
              <a:solidFill>
                <a:schemeClr val="bg1"/>
              </a:solidFill>
            </a:endParaRPr>
          </a:p>
          <a:p>
            <a:r>
              <a:rPr lang="en-GB" sz="1600" dirty="0">
                <a:solidFill>
                  <a:schemeClr val="bg1"/>
                </a:solidFill>
              </a:rPr>
              <a:t>Expected Impact:</a:t>
            </a:r>
            <a:br>
              <a:rPr lang="en-GB" sz="1600" dirty="0">
                <a:solidFill>
                  <a:schemeClr val="bg1"/>
                </a:solidFill>
              </a:rPr>
            </a:br>
            <a:r>
              <a:rPr lang="en-GB" sz="1600" dirty="0">
                <a:solidFill>
                  <a:schemeClr val="bg1"/>
                </a:solidFill>
              </a:rPr>
              <a:t>Improves satisfaction among high-value customers using Fiber Optic services.</a:t>
            </a:r>
          </a:p>
          <a:p>
            <a:br>
              <a:rPr lang="en-GB" sz="1600" dirty="0">
                <a:solidFill>
                  <a:schemeClr val="bg1"/>
                </a:solidFill>
              </a:rPr>
            </a:br>
            <a:endParaRPr lang="en-GB" sz="1600" dirty="0">
              <a:solidFill>
                <a:schemeClr val="bg1"/>
              </a:solidFill>
            </a:endParaRPr>
          </a:p>
          <a:p>
            <a:r>
              <a:rPr lang="en-GB" sz="1600" dirty="0">
                <a:solidFill>
                  <a:schemeClr val="bg1"/>
                </a:solidFill>
              </a:rPr>
              <a:t>5. Encourage Automatic Payment Methods</a:t>
            </a:r>
          </a:p>
          <a:p>
            <a:r>
              <a:rPr lang="en-GB" sz="1600" dirty="0">
                <a:solidFill>
                  <a:schemeClr val="bg1"/>
                </a:solidFill>
              </a:rPr>
              <a:t>Customers using electronic check have higher churn.</a:t>
            </a:r>
          </a:p>
          <a:p>
            <a:r>
              <a:rPr lang="en-GB" sz="1600" dirty="0">
                <a:solidFill>
                  <a:schemeClr val="bg1"/>
                </a:solidFill>
              </a:rPr>
              <a:t>Recommendation:</a:t>
            </a:r>
          </a:p>
          <a:p>
            <a:pPr marL="285750" indent="-285750">
              <a:buFont typeface="Arial" panose="020B0604020202020204" pitchFamily="34" charset="0"/>
              <a:buChar char="•"/>
            </a:pPr>
            <a:r>
              <a:rPr lang="en-GB" sz="1600" dirty="0">
                <a:solidFill>
                  <a:schemeClr val="bg1"/>
                </a:solidFill>
              </a:rPr>
              <a:t>Promote automatic payment options (credit card, bank transfer) </a:t>
            </a:r>
          </a:p>
          <a:p>
            <a:r>
              <a:rPr lang="en-GB" sz="1600" dirty="0">
                <a:solidFill>
                  <a:schemeClr val="bg1"/>
                </a:solidFill>
              </a:rPr>
              <a:t>Expected Impact:</a:t>
            </a:r>
            <a:br>
              <a:rPr lang="en-GB" sz="1600" dirty="0">
                <a:solidFill>
                  <a:schemeClr val="bg1"/>
                </a:solidFill>
              </a:rPr>
            </a:br>
            <a:r>
              <a:rPr lang="en-GB" sz="1600" dirty="0">
                <a:solidFill>
                  <a:schemeClr val="bg1"/>
                </a:solidFill>
              </a:rPr>
              <a:t>Improves payment consistency and strengthens customer retention.</a:t>
            </a:r>
          </a:p>
          <a:p>
            <a:endParaRPr lang="en-GB" dirty="0"/>
          </a:p>
        </p:txBody>
      </p:sp>
    </p:spTree>
    <p:extLst>
      <p:ext uri="{BB962C8B-B14F-4D97-AF65-F5344CB8AC3E}">
        <p14:creationId xmlns:p14="http://schemas.microsoft.com/office/powerpoint/2010/main" val="42054430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90DCAC1-49FE-44CC-E23A-63A2145016A3}"/>
              </a:ext>
            </a:extLst>
          </p:cNvPr>
          <p:cNvSpPr txBox="1"/>
          <p:nvPr/>
        </p:nvSpPr>
        <p:spPr>
          <a:xfrm>
            <a:off x="254833" y="269823"/>
            <a:ext cx="10762937" cy="6186309"/>
          </a:xfrm>
          <a:prstGeom prst="rect">
            <a:avLst/>
          </a:prstGeom>
          <a:noFill/>
        </p:spPr>
        <p:txBody>
          <a:bodyPr wrap="square" rtlCol="0">
            <a:spAutoFit/>
          </a:bodyPr>
          <a:lstStyle/>
          <a:p>
            <a:pPr algn="ctr"/>
            <a:r>
              <a:rPr lang="en-GB" sz="3200" b="1" dirty="0">
                <a:solidFill>
                  <a:schemeClr val="bg1"/>
                </a:solidFill>
              </a:rPr>
              <a:t>Conclusion</a:t>
            </a:r>
          </a:p>
          <a:p>
            <a:r>
              <a:rPr lang="en-GB" sz="2400" dirty="0">
                <a:solidFill>
                  <a:schemeClr val="bg1"/>
                </a:solidFill>
              </a:rPr>
              <a:t>The analysis of the Telco Customer Churn dataset shows that customer churn is significantly influenced by: </a:t>
            </a:r>
          </a:p>
          <a:p>
            <a:pPr marL="285750" indent="-285750">
              <a:buFont typeface="Arial" panose="020B0604020202020204" pitchFamily="34" charset="0"/>
              <a:buChar char="•"/>
            </a:pPr>
            <a:r>
              <a:rPr lang="en-GB" sz="2400" b="1" dirty="0">
                <a:solidFill>
                  <a:schemeClr val="bg1"/>
                </a:solidFill>
              </a:rPr>
              <a:t>Contract type</a:t>
            </a:r>
          </a:p>
          <a:p>
            <a:pPr marL="285750" indent="-285750">
              <a:buFont typeface="Arial" panose="020B0604020202020204" pitchFamily="34" charset="0"/>
              <a:buChar char="•"/>
            </a:pPr>
            <a:r>
              <a:rPr lang="en-GB" sz="2400" b="1" dirty="0">
                <a:solidFill>
                  <a:schemeClr val="bg1"/>
                </a:solidFill>
              </a:rPr>
              <a:t>Tenure</a:t>
            </a:r>
          </a:p>
          <a:p>
            <a:pPr marL="285750" indent="-285750">
              <a:buFont typeface="Arial" panose="020B0604020202020204" pitchFamily="34" charset="0"/>
              <a:buChar char="•"/>
            </a:pPr>
            <a:r>
              <a:rPr lang="en-GB" sz="2400" b="1" dirty="0">
                <a:solidFill>
                  <a:schemeClr val="bg1"/>
                </a:solidFill>
              </a:rPr>
              <a:t>Monthly charges</a:t>
            </a:r>
          </a:p>
          <a:p>
            <a:pPr marL="285750" indent="-285750">
              <a:buFont typeface="Arial" panose="020B0604020202020204" pitchFamily="34" charset="0"/>
              <a:buChar char="•"/>
            </a:pPr>
            <a:r>
              <a:rPr lang="en-GB" sz="2400" b="1" dirty="0">
                <a:solidFill>
                  <a:schemeClr val="bg1"/>
                </a:solidFill>
              </a:rPr>
              <a:t>Internet service type</a:t>
            </a:r>
          </a:p>
          <a:p>
            <a:pPr marL="285750" indent="-285750">
              <a:buFont typeface="Arial" panose="020B0604020202020204" pitchFamily="34" charset="0"/>
              <a:buChar char="•"/>
            </a:pPr>
            <a:r>
              <a:rPr lang="en-GB" sz="2400" b="1" dirty="0">
                <a:solidFill>
                  <a:schemeClr val="bg1"/>
                </a:solidFill>
              </a:rPr>
              <a:t>Payment method</a:t>
            </a:r>
            <a:r>
              <a:rPr lang="en-GB" sz="2400" dirty="0">
                <a:solidFill>
                  <a:schemeClr val="bg1"/>
                </a:solidFill>
              </a:rPr>
              <a:t>.</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dirty="0"/>
          </a:p>
          <a:p>
            <a:pPr algn="ctr"/>
            <a:r>
              <a:rPr lang="en-GB" sz="2800" b="1" dirty="0">
                <a:solidFill>
                  <a:schemeClr val="bg1"/>
                </a:solidFill>
              </a:rPr>
              <a:t>Final Insight</a:t>
            </a:r>
          </a:p>
          <a:p>
            <a:r>
              <a:rPr lang="en-GB" sz="2400" dirty="0">
                <a:solidFill>
                  <a:schemeClr val="bg1"/>
                </a:solidFill>
              </a:rPr>
              <a:t>To reduce churn, the company must focus on improving customer retention strategies, especially for new customers, high-paying customers, and those on flexible contracts.</a:t>
            </a:r>
          </a:p>
          <a:p>
            <a:r>
              <a:rPr lang="en-GB" sz="2400" dirty="0">
                <a:solidFill>
                  <a:schemeClr val="bg1"/>
                </a:solidFill>
              </a:rPr>
              <a:t>By implementing the recommended strategies, the company can improve customer satisfaction, reduce churn, and increase long-term revenue stability.</a:t>
            </a:r>
          </a:p>
          <a:p>
            <a:pPr marL="285750" indent="-285750">
              <a:buFont typeface="Arial" panose="020B0604020202020204" pitchFamily="34" charset="0"/>
              <a:buChar char="•"/>
            </a:pPr>
            <a:endParaRPr lang="en-GB" dirty="0"/>
          </a:p>
          <a:p>
            <a:endParaRPr lang="en-GB" dirty="0"/>
          </a:p>
        </p:txBody>
      </p:sp>
    </p:spTree>
    <p:extLst>
      <p:ext uri="{BB962C8B-B14F-4D97-AF65-F5344CB8AC3E}">
        <p14:creationId xmlns:p14="http://schemas.microsoft.com/office/powerpoint/2010/main" val="1544760266"/>
      </p:ext>
    </p:extLst>
  </p:cSld>
  <p:clrMapOvr>
    <a:masterClrMapping/>
  </p:clrMapOvr>
</p:sld>
</file>

<file path=ppt/theme/theme1.xml><?xml version="1.0" encoding="utf-8"?>
<a:theme xmlns:a="http://schemas.openxmlformats.org/drawingml/2006/main" name="Droplet">
  <a:themeElements>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docProps/app.xml><?xml version="1.0" encoding="utf-8"?>
<Properties xmlns="http://schemas.openxmlformats.org/officeDocument/2006/extended-properties" xmlns:vt="http://schemas.openxmlformats.org/officeDocument/2006/docPropsVTypes">
  <Template>Droplet</Template>
  <TotalTime>163</TotalTime>
  <Words>1217</Words>
  <Application>Microsoft Office PowerPoint</Application>
  <PresentationFormat>Widescreen</PresentationFormat>
  <Paragraphs>155</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Tw Cen MT</vt:lpstr>
      <vt:lpstr>Droplet</vt:lpstr>
      <vt:lpstr>Telco Customer Churn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merit barnabas</dc:creator>
  <cp:lastModifiedBy>merit barnabas</cp:lastModifiedBy>
  <cp:revision>1</cp:revision>
  <dcterms:created xsi:type="dcterms:W3CDTF">2026-07-01T22:00:46Z</dcterms:created>
  <dcterms:modified xsi:type="dcterms:W3CDTF">2026-07-02T00:44:09Z</dcterms:modified>
</cp:coreProperties>
</file>